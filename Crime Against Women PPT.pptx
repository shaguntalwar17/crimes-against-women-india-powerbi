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Default Extension="svg" ContentType="image/svg+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Default Extension="fntdata" ContentType="application/x-fontdata"/>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Lst>
  <p:sldSz cx="18288000" cy="10287000"/>
  <p:notesSz cx="6858000" cy="9144000"/>
  <p:embeddedFontLst>
    <p:embeddedFont>
      <p:font typeface="Anton" charset="0"/>
      <p:regular r:id="rId18"/>
    </p:embeddedFont>
    <p:embeddedFont>
      <p:font typeface="Arial Unicode Bold" charset="-128"/>
      <p:regular r:id="rId19"/>
    </p:embeddedFont>
    <p:embeddedFont>
      <p:font typeface="Arial Unicode" charset="-128"/>
      <p:regular r:id="rId20"/>
    </p:embeddedFont>
    <p:embeddedFont>
      <p:font typeface="Calibri" pitchFamily="34" charset="0"/>
      <p:regular r:id="rId21"/>
      <p:bold r:id="rId22"/>
      <p:italic r:id="rId23"/>
      <p:boldItalic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autoAdjust="0"/>
    <p:restoredTop sz="94622" autoAdjust="0"/>
  </p:normalViewPr>
  <p:slideViewPr>
    <p:cSldViewPr>
      <p:cViewPr varScale="1">
        <p:scale>
          <a:sx n="55" d="100"/>
          <a:sy n="55" d="100"/>
        </p:scale>
        <p:origin x="-658"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TextBox 2"/>
          <p:cNvSpPr txBox="1"/>
          <p:nvPr/>
        </p:nvSpPr>
        <p:spPr>
          <a:xfrm>
            <a:off x="749088" y="1331215"/>
            <a:ext cx="11679674" cy="6730978"/>
          </a:xfrm>
          <a:prstGeom prst="rect">
            <a:avLst/>
          </a:prstGeom>
        </p:spPr>
        <p:txBody>
          <a:bodyPr lIns="0" tIns="0" rIns="0" bIns="0" rtlCol="0" anchor="t">
            <a:spAutoFit/>
          </a:bodyPr>
          <a:lstStyle/>
          <a:p>
            <a:pPr algn="l">
              <a:lnSpc>
                <a:spcPts val="25256"/>
              </a:lnSpc>
            </a:pPr>
            <a:r>
              <a:rPr lang="en-US" sz="29713" spc="-1455">
                <a:solidFill>
                  <a:srgbClr val="FEDEE1"/>
                </a:solidFill>
                <a:latin typeface="Anton"/>
                <a:ea typeface="Anton"/>
                <a:cs typeface="Anton"/>
                <a:sym typeface="Anton"/>
              </a:rPr>
              <a:t>UNHEARD VOICES</a:t>
            </a:r>
          </a:p>
        </p:txBody>
      </p:sp>
      <p:sp>
        <p:nvSpPr>
          <p:cNvPr id="3" name="TextBox 3"/>
          <p:cNvSpPr txBox="1"/>
          <p:nvPr/>
        </p:nvSpPr>
        <p:spPr>
          <a:xfrm>
            <a:off x="10316915" y="3450387"/>
            <a:ext cx="13993810" cy="7579333"/>
          </a:xfrm>
          <a:prstGeom prst="rect">
            <a:avLst/>
          </a:prstGeom>
        </p:spPr>
        <p:txBody>
          <a:bodyPr lIns="0" tIns="0" rIns="0" bIns="0" rtlCol="0" anchor="t">
            <a:spAutoFit/>
          </a:bodyPr>
          <a:lstStyle/>
          <a:p>
            <a:pPr algn="l">
              <a:lnSpc>
                <a:spcPts val="28405"/>
              </a:lnSpc>
            </a:pPr>
            <a:r>
              <a:rPr lang="en-US" sz="33418" spc="-1637">
                <a:solidFill>
                  <a:srgbClr val="000000">
                    <a:alpha val="14902"/>
                  </a:srgbClr>
                </a:solidFill>
                <a:latin typeface="Anton"/>
                <a:ea typeface="Anton"/>
                <a:cs typeface="Anton"/>
                <a:sym typeface="Anton"/>
              </a:rPr>
              <a:t>UNHEARD VOICES</a:t>
            </a:r>
          </a:p>
        </p:txBody>
      </p:sp>
      <p:sp>
        <p:nvSpPr>
          <p:cNvPr id="4" name="TextBox 4"/>
          <p:cNvSpPr txBox="1"/>
          <p:nvPr/>
        </p:nvSpPr>
        <p:spPr>
          <a:xfrm>
            <a:off x="1795011" y="9119468"/>
            <a:ext cx="15917100" cy="405943"/>
          </a:xfrm>
          <a:prstGeom prst="rect">
            <a:avLst/>
          </a:prstGeom>
        </p:spPr>
        <p:txBody>
          <a:bodyPr lIns="0" tIns="0" rIns="0" bIns="0" rtlCol="0" anchor="t">
            <a:spAutoFit/>
          </a:bodyPr>
          <a:lstStyle/>
          <a:p>
            <a:pPr algn="r">
              <a:lnSpc>
                <a:spcPts val="3007"/>
              </a:lnSpc>
            </a:pPr>
            <a:r>
              <a:rPr lang="en-US" sz="2919" b="1" spc="116">
                <a:solidFill>
                  <a:srgbClr val="FFFFFF"/>
                </a:solidFill>
                <a:latin typeface="Arial Unicode Bold"/>
                <a:ea typeface="Arial Unicode Bold"/>
                <a:cs typeface="Arial Unicode Bold"/>
                <a:sym typeface="Arial Unicode Bold"/>
              </a:rPr>
              <a:t>A DATA-DRIVEN ANALYSIS OF CRIMES AGAINST WOMEN IN INDIA (2016-2022)</a:t>
            </a:r>
          </a:p>
        </p:txBody>
      </p:sp>
      <p:sp>
        <p:nvSpPr>
          <p:cNvPr id="5" name="TextBox 5"/>
          <p:cNvSpPr txBox="1"/>
          <p:nvPr/>
        </p:nvSpPr>
        <p:spPr>
          <a:xfrm>
            <a:off x="749088" y="7700243"/>
            <a:ext cx="6354196" cy="361950"/>
          </a:xfrm>
          <a:prstGeom prst="rect">
            <a:avLst/>
          </a:prstGeom>
        </p:spPr>
        <p:txBody>
          <a:bodyPr lIns="0" tIns="0" rIns="0" bIns="0" rtlCol="0" anchor="t">
            <a:spAutoFit/>
          </a:bodyPr>
          <a:lstStyle/>
          <a:p>
            <a:pPr algn="l">
              <a:lnSpc>
                <a:spcPts val="2879"/>
              </a:lnSpc>
            </a:pPr>
            <a:r>
              <a:rPr lang="en-US" sz="2399" spc="-23" dirty="0">
                <a:solidFill>
                  <a:srgbClr val="FFFFFF"/>
                </a:solidFill>
                <a:latin typeface="Arial Unicode"/>
                <a:ea typeface="Arial Unicode"/>
                <a:cs typeface="Arial Unicode"/>
                <a:sym typeface="Arial Unicode"/>
              </a:rPr>
              <a:t> - </a:t>
            </a:r>
            <a:r>
              <a:rPr lang="en-US" sz="2399" spc="-23" dirty="0" err="1">
                <a:solidFill>
                  <a:srgbClr val="FFFFFF"/>
                </a:solidFill>
                <a:latin typeface="Arial Unicode"/>
                <a:ea typeface="Arial Unicode"/>
                <a:cs typeface="Arial Unicode"/>
                <a:sym typeface="Arial Unicode"/>
              </a:rPr>
              <a:t>Shagun</a:t>
            </a:r>
            <a:r>
              <a:rPr lang="en-US" sz="2399" spc="-23" dirty="0">
                <a:solidFill>
                  <a:srgbClr val="FFFFFF"/>
                </a:solidFill>
                <a:latin typeface="Arial Unicode"/>
                <a:ea typeface="Arial Unicode"/>
                <a:cs typeface="Arial Unicode"/>
                <a:sym typeface="Arial Unicode"/>
              </a:rPr>
              <a:t> </a:t>
            </a:r>
            <a:r>
              <a:rPr lang="en-US" sz="2399" spc="-23" dirty="0" err="1">
                <a:solidFill>
                  <a:srgbClr val="FFFFFF"/>
                </a:solidFill>
                <a:latin typeface="Arial Unicode"/>
                <a:ea typeface="Arial Unicode"/>
                <a:cs typeface="Arial Unicode"/>
                <a:sym typeface="Arial Unicode"/>
              </a:rPr>
              <a:t>Talwar</a:t>
            </a:r>
            <a:r>
              <a:rPr lang="en-US" sz="2399" spc="-23" dirty="0">
                <a:solidFill>
                  <a:srgbClr val="FFFFFF"/>
                </a:solidFill>
                <a:latin typeface="Arial Unicode"/>
                <a:ea typeface="Arial Unicode"/>
                <a:cs typeface="Arial Unicode"/>
                <a:sym typeface="Arial Unicode"/>
              </a:rPr>
              <a:t> </a:t>
            </a:r>
          </a:p>
        </p:txBody>
      </p:sp>
      <p:sp>
        <p:nvSpPr>
          <p:cNvPr id="6" name="TextBox 6"/>
          <p:cNvSpPr txBox="1"/>
          <p:nvPr/>
        </p:nvSpPr>
        <p:spPr>
          <a:xfrm>
            <a:off x="9144000" y="8481293"/>
            <a:ext cx="12173936" cy="361950"/>
          </a:xfrm>
          <a:prstGeom prst="rect">
            <a:avLst/>
          </a:prstGeom>
        </p:spPr>
        <p:txBody>
          <a:bodyPr lIns="0" tIns="0" rIns="0" bIns="0" rtlCol="0" anchor="t">
            <a:spAutoFit/>
          </a:bodyPr>
          <a:lstStyle/>
          <a:p>
            <a:pPr algn="l">
              <a:lnSpc>
                <a:spcPts val="2879"/>
              </a:lnSpc>
            </a:pPr>
            <a:r>
              <a:rPr lang="en-US" sz="2399" spc="-23">
                <a:solidFill>
                  <a:srgbClr val="FFFFFF"/>
                </a:solidFill>
                <a:latin typeface="Arial Unicode"/>
                <a:ea typeface="Arial Unicode"/>
                <a:cs typeface="Arial Unicode"/>
                <a:sym typeface="Arial Unicode"/>
              </a:rPr>
              <a:t>Visualizing Trends, Hotspots, and Vulnerabilities using Power BI</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grpSp>
        <p:nvGrpSpPr>
          <p:cNvPr id="2" name="Group 2"/>
          <p:cNvGrpSpPr/>
          <p:nvPr/>
        </p:nvGrpSpPr>
        <p:grpSpPr>
          <a:xfrm>
            <a:off x="1028700" y="6463031"/>
            <a:ext cx="564591" cy="564591"/>
            <a:chOff x="0" y="0"/>
            <a:chExt cx="148699" cy="148699"/>
          </a:xfrm>
        </p:grpSpPr>
        <p:sp>
          <p:nvSpPr>
            <p:cNvPr id="3" name="Freeform 3"/>
            <p:cNvSpPr/>
            <p:nvPr/>
          </p:nvSpPr>
          <p:spPr>
            <a:xfrm>
              <a:off x="0" y="0"/>
              <a:ext cx="148699" cy="148699"/>
            </a:xfrm>
            <a:custGeom>
              <a:avLst/>
              <a:gdLst/>
              <a:ahLst/>
              <a:cxnLst/>
              <a:rect l="l" t="t" r="r" b="b"/>
              <a:pathLst>
                <a:path w="148699" h="148699">
                  <a:moveTo>
                    <a:pt x="0" y="0"/>
                  </a:moveTo>
                  <a:lnTo>
                    <a:pt x="148699" y="0"/>
                  </a:lnTo>
                  <a:lnTo>
                    <a:pt x="148699" y="148699"/>
                  </a:lnTo>
                  <a:lnTo>
                    <a:pt x="0" y="148699"/>
                  </a:lnTo>
                  <a:close/>
                </a:path>
              </a:pathLst>
            </a:custGeom>
            <a:solidFill>
              <a:srgbClr val="FEDEE1"/>
            </a:solidFill>
          </p:spPr>
        </p:sp>
        <p:sp>
          <p:nvSpPr>
            <p:cNvPr id="4" name="TextBox 4"/>
            <p:cNvSpPr txBox="1"/>
            <p:nvPr/>
          </p:nvSpPr>
          <p:spPr>
            <a:xfrm>
              <a:off x="0" y="0"/>
              <a:ext cx="148699" cy="148699"/>
            </a:xfrm>
            <a:prstGeom prst="rect">
              <a:avLst/>
            </a:prstGeom>
          </p:spPr>
          <p:txBody>
            <a:bodyPr lIns="50800" tIns="50800" rIns="50800" bIns="50800" rtlCol="0" anchor="ctr"/>
            <a:lstStyle/>
            <a:p>
              <a:pPr algn="ctr">
                <a:lnSpc>
                  <a:spcPts val="2399"/>
                </a:lnSpc>
              </a:pPr>
              <a:endParaRPr/>
            </a:p>
          </p:txBody>
        </p:sp>
      </p:grpSp>
      <p:sp>
        <p:nvSpPr>
          <p:cNvPr id="5" name="TextBox 5"/>
          <p:cNvSpPr txBox="1"/>
          <p:nvPr/>
        </p:nvSpPr>
        <p:spPr>
          <a:xfrm>
            <a:off x="891903" y="1069247"/>
            <a:ext cx="16367397" cy="4537076"/>
          </a:xfrm>
          <a:prstGeom prst="rect">
            <a:avLst/>
          </a:prstGeom>
        </p:spPr>
        <p:txBody>
          <a:bodyPr lIns="0" tIns="0" rIns="0" bIns="0" rtlCol="0" anchor="t">
            <a:spAutoFit/>
          </a:bodyPr>
          <a:lstStyle/>
          <a:p>
            <a:pPr algn="l">
              <a:lnSpc>
                <a:spcPts val="17000"/>
              </a:lnSpc>
            </a:pPr>
            <a:r>
              <a:rPr lang="en-US" sz="20000" spc="-980">
                <a:solidFill>
                  <a:srgbClr val="FEDEE1"/>
                </a:solidFill>
                <a:latin typeface="Anton"/>
                <a:ea typeface="Anton"/>
                <a:cs typeface="Anton"/>
                <a:sym typeface="Anton"/>
              </a:rPr>
              <a:t>OVERALL </a:t>
            </a:r>
          </a:p>
          <a:p>
            <a:pPr algn="l">
              <a:lnSpc>
                <a:spcPts val="17000"/>
              </a:lnSpc>
            </a:pPr>
            <a:r>
              <a:rPr lang="en-US" sz="20000" spc="-980">
                <a:solidFill>
                  <a:srgbClr val="FEDEE1"/>
                </a:solidFill>
                <a:latin typeface="Anton"/>
                <a:ea typeface="Anton"/>
                <a:cs typeface="Anton"/>
                <a:sym typeface="Anton"/>
              </a:rPr>
              <a:t>PURPOSE </a:t>
            </a:r>
          </a:p>
        </p:txBody>
      </p:sp>
      <p:sp>
        <p:nvSpPr>
          <p:cNvPr id="6" name="TextBox 6"/>
          <p:cNvSpPr txBox="1"/>
          <p:nvPr/>
        </p:nvSpPr>
        <p:spPr>
          <a:xfrm>
            <a:off x="1028700" y="7189547"/>
            <a:ext cx="2387652"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NATIONAL OVERVIEW</a:t>
            </a:r>
          </a:p>
        </p:txBody>
      </p:sp>
      <p:sp>
        <p:nvSpPr>
          <p:cNvPr id="7" name="TextBox 7"/>
          <p:cNvSpPr txBox="1"/>
          <p:nvPr/>
        </p:nvSpPr>
        <p:spPr>
          <a:xfrm>
            <a:off x="9075602" y="820141"/>
            <a:ext cx="8183554" cy="3851965"/>
          </a:xfrm>
          <a:prstGeom prst="rect">
            <a:avLst/>
          </a:prstGeom>
        </p:spPr>
        <p:txBody>
          <a:bodyPr lIns="0" tIns="0" rIns="0" bIns="0" rtlCol="0" anchor="t">
            <a:spAutoFit/>
          </a:bodyPr>
          <a:lstStyle/>
          <a:p>
            <a:pPr algn="just">
              <a:lnSpc>
                <a:spcPts val="3405"/>
              </a:lnSpc>
            </a:pPr>
            <a:r>
              <a:rPr lang="en-US" sz="2837" spc="-28">
                <a:solidFill>
                  <a:srgbClr val="FFFFFF"/>
                </a:solidFill>
                <a:latin typeface="Arial Unicode"/>
                <a:ea typeface="Arial Unicode"/>
                <a:cs typeface="Arial Unicode"/>
                <a:sym typeface="Arial Unicode"/>
              </a:rPr>
              <a:t>The dashboard provides a multi-level view of crimes against women in India, moving from a national picture down to state and district micro hot-spots. It consolidates several categories of offences—including rapes, domestic violence, kidnapping, cyber crimes, acid attacks, dowry deaths, human trafficking and miscarriage related deaths—to highlight where and how intensely women are impacted across the country.</a:t>
            </a:r>
          </a:p>
        </p:txBody>
      </p:sp>
      <p:sp>
        <p:nvSpPr>
          <p:cNvPr id="8" name="TextBox 8"/>
          <p:cNvSpPr txBox="1"/>
          <p:nvPr/>
        </p:nvSpPr>
        <p:spPr>
          <a:xfrm>
            <a:off x="6761209" y="7189547"/>
            <a:ext cx="4163227"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STATE-LEVEL LANDSCAPE</a:t>
            </a:r>
          </a:p>
        </p:txBody>
      </p:sp>
      <p:sp>
        <p:nvSpPr>
          <p:cNvPr id="9" name="TextBox 9"/>
          <p:cNvSpPr txBox="1"/>
          <p:nvPr/>
        </p:nvSpPr>
        <p:spPr>
          <a:xfrm>
            <a:off x="12493718" y="7189547"/>
            <a:ext cx="2912059"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DISTRICT-LEVEL HOTSPOTS</a:t>
            </a:r>
          </a:p>
        </p:txBody>
      </p:sp>
      <p:grpSp>
        <p:nvGrpSpPr>
          <p:cNvPr id="10" name="Group 10"/>
          <p:cNvGrpSpPr/>
          <p:nvPr/>
        </p:nvGrpSpPr>
        <p:grpSpPr>
          <a:xfrm>
            <a:off x="6761209" y="6463031"/>
            <a:ext cx="564591" cy="564591"/>
            <a:chOff x="0" y="0"/>
            <a:chExt cx="148699" cy="148699"/>
          </a:xfrm>
        </p:grpSpPr>
        <p:sp>
          <p:nvSpPr>
            <p:cNvPr id="11" name="Freeform 11"/>
            <p:cNvSpPr/>
            <p:nvPr/>
          </p:nvSpPr>
          <p:spPr>
            <a:xfrm>
              <a:off x="0" y="0"/>
              <a:ext cx="148699" cy="148699"/>
            </a:xfrm>
            <a:custGeom>
              <a:avLst/>
              <a:gdLst/>
              <a:ahLst/>
              <a:cxnLst/>
              <a:rect l="l" t="t" r="r" b="b"/>
              <a:pathLst>
                <a:path w="148699" h="148699">
                  <a:moveTo>
                    <a:pt x="0" y="0"/>
                  </a:moveTo>
                  <a:lnTo>
                    <a:pt x="148699" y="0"/>
                  </a:lnTo>
                  <a:lnTo>
                    <a:pt x="148699" y="148699"/>
                  </a:lnTo>
                  <a:lnTo>
                    <a:pt x="0" y="148699"/>
                  </a:lnTo>
                  <a:close/>
                </a:path>
              </a:pathLst>
            </a:custGeom>
            <a:solidFill>
              <a:srgbClr val="FEDEE1"/>
            </a:solidFill>
          </p:spPr>
        </p:sp>
        <p:sp>
          <p:nvSpPr>
            <p:cNvPr id="12" name="TextBox 12"/>
            <p:cNvSpPr txBox="1"/>
            <p:nvPr/>
          </p:nvSpPr>
          <p:spPr>
            <a:xfrm>
              <a:off x="0" y="0"/>
              <a:ext cx="148699" cy="148699"/>
            </a:xfrm>
            <a:prstGeom prst="rect">
              <a:avLst/>
            </a:prstGeom>
          </p:spPr>
          <p:txBody>
            <a:bodyPr lIns="50800" tIns="50800" rIns="50800" bIns="50800" rtlCol="0" anchor="ctr"/>
            <a:lstStyle/>
            <a:p>
              <a:pPr algn="ctr">
                <a:lnSpc>
                  <a:spcPts val="2399"/>
                </a:lnSpc>
              </a:pPr>
              <a:endParaRPr/>
            </a:p>
          </p:txBody>
        </p:sp>
      </p:grpSp>
      <p:grpSp>
        <p:nvGrpSpPr>
          <p:cNvPr id="13" name="Group 13"/>
          <p:cNvGrpSpPr/>
          <p:nvPr/>
        </p:nvGrpSpPr>
        <p:grpSpPr>
          <a:xfrm>
            <a:off x="12493718" y="6463031"/>
            <a:ext cx="564591" cy="564591"/>
            <a:chOff x="0" y="0"/>
            <a:chExt cx="148699" cy="148699"/>
          </a:xfrm>
        </p:grpSpPr>
        <p:sp>
          <p:nvSpPr>
            <p:cNvPr id="14" name="Freeform 14"/>
            <p:cNvSpPr/>
            <p:nvPr/>
          </p:nvSpPr>
          <p:spPr>
            <a:xfrm>
              <a:off x="0" y="0"/>
              <a:ext cx="148699" cy="148699"/>
            </a:xfrm>
            <a:custGeom>
              <a:avLst/>
              <a:gdLst/>
              <a:ahLst/>
              <a:cxnLst/>
              <a:rect l="l" t="t" r="r" b="b"/>
              <a:pathLst>
                <a:path w="148699" h="148699">
                  <a:moveTo>
                    <a:pt x="0" y="0"/>
                  </a:moveTo>
                  <a:lnTo>
                    <a:pt x="148699" y="0"/>
                  </a:lnTo>
                  <a:lnTo>
                    <a:pt x="148699" y="148699"/>
                  </a:lnTo>
                  <a:lnTo>
                    <a:pt x="0" y="148699"/>
                  </a:lnTo>
                  <a:close/>
                </a:path>
              </a:pathLst>
            </a:custGeom>
            <a:solidFill>
              <a:srgbClr val="FEDEE1"/>
            </a:solidFill>
          </p:spPr>
        </p:sp>
        <p:sp>
          <p:nvSpPr>
            <p:cNvPr id="15" name="TextBox 15"/>
            <p:cNvSpPr txBox="1"/>
            <p:nvPr/>
          </p:nvSpPr>
          <p:spPr>
            <a:xfrm>
              <a:off x="0" y="0"/>
              <a:ext cx="148699" cy="148699"/>
            </a:xfrm>
            <a:prstGeom prst="rect">
              <a:avLst/>
            </a:prstGeom>
          </p:spPr>
          <p:txBody>
            <a:bodyPr lIns="50800" tIns="50800" rIns="50800" bIns="50800" rtlCol="0" anchor="ctr"/>
            <a:lstStyle/>
            <a:p>
              <a:pPr algn="ctr">
                <a:lnSpc>
                  <a:spcPts val="2399"/>
                </a:lnSpc>
              </a:pPr>
              <a:endParaRPr/>
            </a:p>
          </p:txBody>
        </p:sp>
      </p:grpSp>
      <p:sp>
        <p:nvSpPr>
          <p:cNvPr id="16" name="TextBox 16"/>
          <p:cNvSpPr txBox="1"/>
          <p:nvPr/>
        </p:nvSpPr>
        <p:spPr>
          <a:xfrm>
            <a:off x="1146108" y="6559605"/>
            <a:ext cx="329776" cy="361917"/>
          </a:xfrm>
          <a:prstGeom prst="rect">
            <a:avLst/>
          </a:prstGeom>
        </p:spPr>
        <p:txBody>
          <a:bodyPr lIns="0" tIns="0" rIns="0" bIns="0" rtlCol="0" anchor="t">
            <a:spAutoFit/>
          </a:bodyPr>
          <a:lstStyle/>
          <a:p>
            <a:pPr algn="ctr">
              <a:lnSpc>
                <a:spcPts val="2818"/>
              </a:lnSpc>
            </a:pPr>
            <a:r>
              <a:rPr lang="en-US" sz="2348" spc="-23">
                <a:solidFill>
                  <a:srgbClr val="70020F"/>
                </a:solidFill>
                <a:latin typeface="Anton"/>
                <a:ea typeface="Anton"/>
                <a:cs typeface="Anton"/>
                <a:sym typeface="Anton"/>
              </a:rPr>
              <a:t>1.</a:t>
            </a:r>
          </a:p>
        </p:txBody>
      </p:sp>
      <p:sp>
        <p:nvSpPr>
          <p:cNvPr id="17" name="TextBox 17"/>
          <p:cNvSpPr txBox="1"/>
          <p:nvPr/>
        </p:nvSpPr>
        <p:spPr>
          <a:xfrm>
            <a:off x="6878617" y="6559605"/>
            <a:ext cx="329776" cy="361917"/>
          </a:xfrm>
          <a:prstGeom prst="rect">
            <a:avLst/>
          </a:prstGeom>
        </p:spPr>
        <p:txBody>
          <a:bodyPr lIns="0" tIns="0" rIns="0" bIns="0" rtlCol="0" anchor="t">
            <a:spAutoFit/>
          </a:bodyPr>
          <a:lstStyle/>
          <a:p>
            <a:pPr algn="ctr">
              <a:lnSpc>
                <a:spcPts val="2818"/>
              </a:lnSpc>
            </a:pPr>
            <a:r>
              <a:rPr lang="en-US" sz="2348" spc="-23">
                <a:solidFill>
                  <a:srgbClr val="70020F"/>
                </a:solidFill>
                <a:latin typeface="Anton"/>
                <a:ea typeface="Anton"/>
                <a:cs typeface="Anton"/>
                <a:sym typeface="Anton"/>
              </a:rPr>
              <a:t>2.</a:t>
            </a:r>
          </a:p>
        </p:txBody>
      </p:sp>
      <p:sp>
        <p:nvSpPr>
          <p:cNvPr id="18" name="TextBox 18"/>
          <p:cNvSpPr txBox="1"/>
          <p:nvPr/>
        </p:nvSpPr>
        <p:spPr>
          <a:xfrm>
            <a:off x="12611126" y="6559605"/>
            <a:ext cx="329776" cy="361917"/>
          </a:xfrm>
          <a:prstGeom prst="rect">
            <a:avLst/>
          </a:prstGeom>
        </p:spPr>
        <p:txBody>
          <a:bodyPr lIns="0" tIns="0" rIns="0" bIns="0" rtlCol="0" anchor="t">
            <a:spAutoFit/>
          </a:bodyPr>
          <a:lstStyle/>
          <a:p>
            <a:pPr algn="ctr">
              <a:lnSpc>
                <a:spcPts val="2818"/>
              </a:lnSpc>
            </a:pPr>
            <a:r>
              <a:rPr lang="en-US" sz="2348" spc="-23">
                <a:solidFill>
                  <a:srgbClr val="70020F"/>
                </a:solidFill>
                <a:latin typeface="Anton"/>
                <a:ea typeface="Anton"/>
                <a:cs typeface="Anton"/>
                <a:sym typeface="Anton"/>
              </a:rPr>
              <a:t>3.</a:t>
            </a:r>
          </a:p>
        </p:txBody>
      </p:sp>
      <p:sp>
        <p:nvSpPr>
          <p:cNvPr id="19" name="TextBox 19"/>
          <p:cNvSpPr txBox="1"/>
          <p:nvPr/>
        </p:nvSpPr>
        <p:spPr>
          <a:xfrm>
            <a:off x="1024077" y="7717313"/>
            <a:ext cx="5069314" cy="1150477"/>
          </a:xfrm>
          <a:prstGeom prst="rect">
            <a:avLst/>
          </a:prstGeom>
        </p:spPr>
        <p:txBody>
          <a:bodyPr lIns="0" tIns="0" rIns="0" bIns="0" rtlCol="0" anchor="t">
            <a:spAutoFit/>
          </a:bodyPr>
          <a:lstStyle/>
          <a:p>
            <a:pPr algn="just">
              <a:lnSpc>
                <a:spcPts val="3051"/>
              </a:lnSpc>
            </a:pPr>
            <a:r>
              <a:rPr lang="en-US" sz="2542" spc="-25">
                <a:solidFill>
                  <a:srgbClr val="FFFFFF"/>
                </a:solidFill>
                <a:latin typeface="Arial Unicode"/>
                <a:ea typeface="Arial Unicode"/>
                <a:cs typeface="Arial Unicode"/>
                <a:sym typeface="Arial Unicode"/>
              </a:rPr>
              <a:t>high-level counts, time trends and distributions across age and crime types.</a:t>
            </a:r>
          </a:p>
        </p:txBody>
      </p:sp>
      <p:sp>
        <p:nvSpPr>
          <p:cNvPr id="20" name="TextBox 20"/>
          <p:cNvSpPr txBox="1"/>
          <p:nvPr/>
        </p:nvSpPr>
        <p:spPr>
          <a:xfrm>
            <a:off x="6540945" y="7717313"/>
            <a:ext cx="5069314" cy="1150477"/>
          </a:xfrm>
          <a:prstGeom prst="rect">
            <a:avLst/>
          </a:prstGeom>
        </p:spPr>
        <p:txBody>
          <a:bodyPr lIns="0" tIns="0" rIns="0" bIns="0" rtlCol="0" anchor="t">
            <a:spAutoFit/>
          </a:bodyPr>
          <a:lstStyle/>
          <a:p>
            <a:pPr algn="just">
              <a:lnSpc>
                <a:spcPts val="3051"/>
              </a:lnSpc>
            </a:pPr>
            <a:r>
              <a:rPr lang="en-US" sz="2542" spc="-25">
                <a:solidFill>
                  <a:srgbClr val="FFFFFF"/>
                </a:solidFill>
                <a:latin typeface="Arial Unicode"/>
                <a:ea typeface="Arial Unicode"/>
                <a:cs typeface="Arial Unicode"/>
                <a:sym typeface="Arial Unicode"/>
              </a:rPr>
              <a:t>identification of high-burden states, severity indices and state-wise patterns.</a:t>
            </a:r>
          </a:p>
        </p:txBody>
      </p:sp>
      <p:sp>
        <p:nvSpPr>
          <p:cNvPr id="21" name="TextBox 21"/>
          <p:cNvSpPr txBox="1"/>
          <p:nvPr/>
        </p:nvSpPr>
        <p:spPr>
          <a:xfrm>
            <a:off x="12493718" y="7717313"/>
            <a:ext cx="5069314" cy="1150477"/>
          </a:xfrm>
          <a:prstGeom prst="rect">
            <a:avLst/>
          </a:prstGeom>
        </p:spPr>
        <p:txBody>
          <a:bodyPr lIns="0" tIns="0" rIns="0" bIns="0" rtlCol="0" anchor="t">
            <a:spAutoFit/>
          </a:bodyPr>
          <a:lstStyle/>
          <a:p>
            <a:pPr algn="just">
              <a:lnSpc>
                <a:spcPts val="3051"/>
              </a:lnSpc>
            </a:pPr>
            <a:r>
              <a:rPr lang="en-US" sz="2542" spc="-25">
                <a:solidFill>
                  <a:srgbClr val="FFFFFF"/>
                </a:solidFill>
                <a:latin typeface="Arial Unicode"/>
                <a:ea typeface="Arial Unicode"/>
                <a:cs typeface="Arial Unicode"/>
                <a:sym typeface="Arial Unicode"/>
              </a:rPr>
              <a:t>micro analysis of districts, comparing crime index, total crimes and specific offence categories.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TextBox 2"/>
          <p:cNvSpPr txBox="1"/>
          <p:nvPr/>
        </p:nvSpPr>
        <p:spPr>
          <a:xfrm>
            <a:off x="6601670" y="1265908"/>
            <a:ext cx="11009066" cy="976901"/>
          </a:xfrm>
          <a:prstGeom prst="rect">
            <a:avLst/>
          </a:prstGeom>
        </p:spPr>
        <p:txBody>
          <a:bodyPr lIns="0" tIns="0" rIns="0" bIns="0" rtlCol="0" anchor="t">
            <a:spAutoFit/>
          </a:bodyPr>
          <a:lstStyle/>
          <a:p>
            <a:pPr algn="just">
              <a:lnSpc>
                <a:spcPts val="2591"/>
              </a:lnSpc>
            </a:pPr>
            <a:r>
              <a:rPr lang="en-US" sz="2159" spc="-21">
                <a:solidFill>
                  <a:srgbClr val="FFFFFF"/>
                </a:solidFill>
                <a:latin typeface="Arial Unicode"/>
                <a:ea typeface="Arial Unicode"/>
                <a:cs typeface="Arial Unicode"/>
                <a:sym typeface="Arial Unicode"/>
              </a:rPr>
              <a:t>The “Total Crimes vs Rapes – National Trend” area-plusline chart shows both total crimes and rapes increasing from 2016 to 2022, indicating a growing volume of reported offences over time</a:t>
            </a:r>
          </a:p>
        </p:txBody>
      </p:sp>
      <p:sp>
        <p:nvSpPr>
          <p:cNvPr id="3" name="Freeform 3"/>
          <p:cNvSpPr/>
          <p:nvPr/>
        </p:nvSpPr>
        <p:spPr>
          <a:xfrm>
            <a:off x="16533642" y="1028700"/>
            <a:ext cx="725658" cy="725658"/>
          </a:xfrm>
          <a:custGeom>
            <a:avLst/>
            <a:gdLst/>
            <a:ahLst/>
            <a:cxnLst/>
            <a:rect l="l" t="t" r="r" b="b"/>
            <a:pathLst>
              <a:path w="725658" h="725658">
                <a:moveTo>
                  <a:pt x="0" y="0"/>
                </a:moveTo>
                <a:lnTo>
                  <a:pt x="725658" y="0"/>
                </a:lnTo>
                <a:lnTo>
                  <a:pt x="725658" y="725658"/>
                </a:lnTo>
                <a:lnTo>
                  <a:pt x="0" y="725658"/>
                </a:lnTo>
                <a:lnTo>
                  <a:pt x="0" y="0"/>
                </a:lnTo>
                <a:close/>
              </a:path>
            </a:pathLst>
          </a:custGeom>
          <a:blipFill>
            <a:blip r:embed="rId2" cstate="print">
              <a:alphaModFix amt="15000"/>
              <a:extLst>
                <a:ext uri="{96DAC541-7B7A-43D3-8B79-37D633B846F1}">
                  <asvg:svgBlip xmlns:asvg="http://schemas.microsoft.com/office/drawing/2016/SVG/main" xmlns="" r:embed="rId3"/>
                </a:ext>
              </a:extLst>
            </a:blip>
            <a:stretch>
              <a:fillRect/>
            </a:stretch>
          </a:blipFill>
        </p:spPr>
      </p:sp>
      <p:sp>
        <p:nvSpPr>
          <p:cNvPr id="4" name="AutoShape 4"/>
          <p:cNvSpPr/>
          <p:nvPr/>
        </p:nvSpPr>
        <p:spPr>
          <a:xfrm flipV="1">
            <a:off x="6601670" y="2485696"/>
            <a:ext cx="11009066" cy="0"/>
          </a:xfrm>
          <a:prstGeom prst="line">
            <a:avLst/>
          </a:prstGeom>
          <a:ln w="9525" cap="rnd">
            <a:solidFill>
              <a:srgbClr val="FFFFFF"/>
            </a:solidFill>
            <a:prstDash val="solid"/>
            <a:headEnd type="none" w="sm" len="sm"/>
            <a:tailEnd type="none" w="sm" len="sm"/>
          </a:ln>
        </p:spPr>
      </p:sp>
      <p:sp>
        <p:nvSpPr>
          <p:cNvPr id="5" name="AutoShape 5"/>
          <p:cNvSpPr/>
          <p:nvPr/>
        </p:nvSpPr>
        <p:spPr>
          <a:xfrm>
            <a:off x="745701" y="8344530"/>
            <a:ext cx="11009066" cy="0"/>
          </a:xfrm>
          <a:prstGeom prst="line">
            <a:avLst/>
          </a:prstGeom>
          <a:ln w="9525" cap="rnd">
            <a:solidFill>
              <a:srgbClr val="FFFFFF"/>
            </a:solidFill>
            <a:prstDash val="solid"/>
            <a:headEnd type="none" w="sm" len="sm"/>
            <a:tailEnd type="none" w="sm" len="sm"/>
          </a:ln>
        </p:spPr>
      </p:sp>
      <p:sp>
        <p:nvSpPr>
          <p:cNvPr id="6" name="AutoShape 6"/>
          <p:cNvSpPr/>
          <p:nvPr/>
        </p:nvSpPr>
        <p:spPr>
          <a:xfrm>
            <a:off x="745701" y="4726726"/>
            <a:ext cx="16865035" cy="0"/>
          </a:xfrm>
          <a:prstGeom prst="line">
            <a:avLst/>
          </a:prstGeom>
          <a:ln w="9525" cap="rnd">
            <a:solidFill>
              <a:srgbClr val="FFFFFF"/>
            </a:solidFill>
            <a:prstDash val="solid"/>
            <a:headEnd type="none" w="sm" len="sm"/>
            <a:tailEnd type="none" w="sm" len="sm"/>
          </a:ln>
        </p:spPr>
      </p:sp>
      <p:sp>
        <p:nvSpPr>
          <p:cNvPr id="7" name="AutoShape 7"/>
          <p:cNvSpPr/>
          <p:nvPr/>
        </p:nvSpPr>
        <p:spPr>
          <a:xfrm>
            <a:off x="745701" y="6622571"/>
            <a:ext cx="11009066" cy="0"/>
          </a:xfrm>
          <a:prstGeom prst="line">
            <a:avLst/>
          </a:prstGeom>
          <a:ln w="9525" cap="rnd">
            <a:solidFill>
              <a:srgbClr val="FFFFFF"/>
            </a:solidFill>
            <a:prstDash val="solid"/>
            <a:headEnd type="none" w="sm" len="sm"/>
            <a:tailEnd type="none" w="sm" len="sm"/>
          </a:ln>
        </p:spPr>
      </p:sp>
      <p:sp>
        <p:nvSpPr>
          <p:cNvPr id="8" name="Freeform 8"/>
          <p:cNvSpPr/>
          <p:nvPr/>
        </p:nvSpPr>
        <p:spPr>
          <a:xfrm>
            <a:off x="12106203" y="5231812"/>
            <a:ext cx="2642870" cy="4266155"/>
          </a:xfrm>
          <a:custGeom>
            <a:avLst/>
            <a:gdLst/>
            <a:ahLst/>
            <a:cxnLst/>
            <a:rect l="l" t="t" r="r" b="b"/>
            <a:pathLst>
              <a:path w="2642870" h="4266155">
                <a:moveTo>
                  <a:pt x="0" y="0"/>
                </a:moveTo>
                <a:lnTo>
                  <a:pt x="2642870" y="0"/>
                </a:lnTo>
                <a:lnTo>
                  <a:pt x="2642870" y="4266155"/>
                </a:lnTo>
                <a:lnTo>
                  <a:pt x="0" y="4266155"/>
                </a:lnTo>
                <a:lnTo>
                  <a:pt x="0" y="0"/>
                </a:lnTo>
                <a:close/>
              </a:path>
            </a:pathLst>
          </a:custGeom>
          <a:blipFill>
            <a:blip r:embed="rId4"/>
            <a:stretch>
              <a:fillRect/>
            </a:stretch>
          </a:blipFill>
        </p:spPr>
      </p:sp>
      <p:sp>
        <p:nvSpPr>
          <p:cNvPr id="9" name="Freeform 9"/>
          <p:cNvSpPr/>
          <p:nvPr/>
        </p:nvSpPr>
        <p:spPr>
          <a:xfrm>
            <a:off x="15100468" y="5143500"/>
            <a:ext cx="2510268" cy="4266155"/>
          </a:xfrm>
          <a:custGeom>
            <a:avLst/>
            <a:gdLst/>
            <a:ahLst/>
            <a:cxnLst/>
            <a:rect l="l" t="t" r="r" b="b"/>
            <a:pathLst>
              <a:path w="2510268" h="4266155">
                <a:moveTo>
                  <a:pt x="0" y="0"/>
                </a:moveTo>
                <a:lnTo>
                  <a:pt x="2510268" y="0"/>
                </a:lnTo>
                <a:lnTo>
                  <a:pt x="2510268" y="4266155"/>
                </a:lnTo>
                <a:lnTo>
                  <a:pt x="0" y="4266155"/>
                </a:lnTo>
                <a:lnTo>
                  <a:pt x="0" y="0"/>
                </a:lnTo>
                <a:close/>
              </a:path>
            </a:pathLst>
          </a:custGeom>
          <a:blipFill>
            <a:blip r:embed="rId5"/>
            <a:stretch>
              <a:fillRect/>
            </a:stretch>
          </a:blipFill>
        </p:spPr>
      </p:sp>
      <p:sp>
        <p:nvSpPr>
          <p:cNvPr id="10" name="TextBox 10"/>
          <p:cNvSpPr txBox="1"/>
          <p:nvPr/>
        </p:nvSpPr>
        <p:spPr>
          <a:xfrm>
            <a:off x="960263" y="1290834"/>
            <a:ext cx="5572970" cy="2821530"/>
          </a:xfrm>
          <a:prstGeom prst="rect">
            <a:avLst/>
          </a:prstGeom>
        </p:spPr>
        <p:txBody>
          <a:bodyPr lIns="0" tIns="0" rIns="0" bIns="0" rtlCol="0" anchor="t">
            <a:spAutoFit/>
          </a:bodyPr>
          <a:lstStyle/>
          <a:p>
            <a:pPr algn="l">
              <a:lnSpc>
                <a:spcPts val="10574"/>
              </a:lnSpc>
            </a:pPr>
            <a:r>
              <a:rPr lang="en-US" sz="12440" spc="-609">
                <a:solidFill>
                  <a:srgbClr val="FEDEE1"/>
                </a:solidFill>
                <a:latin typeface="Anton"/>
                <a:ea typeface="Anton"/>
                <a:cs typeface="Anton"/>
                <a:sym typeface="Anton"/>
              </a:rPr>
              <a:t>NATIONAL TRENDS </a:t>
            </a:r>
          </a:p>
        </p:txBody>
      </p:sp>
      <p:sp>
        <p:nvSpPr>
          <p:cNvPr id="11" name="TextBox 11"/>
          <p:cNvSpPr txBox="1"/>
          <p:nvPr/>
        </p:nvSpPr>
        <p:spPr>
          <a:xfrm>
            <a:off x="6601670" y="672384"/>
            <a:ext cx="7509322"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OVERALL CRIME LEVELS ARE HIGH AND RISING. </a:t>
            </a:r>
          </a:p>
        </p:txBody>
      </p:sp>
      <p:sp>
        <p:nvSpPr>
          <p:cNvPr id="12" name="TextBox 12"/>
          <p:cNvSpPr txBox="1"/>
          <p:nvPr/>
        </p:nvSpPr>
        <p:spPr>
          <a:xfrm>
            <a:off x="745701" y="6855934"/>
            <a:ext cx="7509322"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ASSAULTS, DOMESTIC VIOLENCE AND KIDNAPPING REMAIN PROMINENT.</a:t>
            </a:r>
          </a:p>
        </p:txBody>
      </p:sp>
      <p:sp>
        <p:nvSpPr>
          <p:cNvPr id="13" name="TextBox 13"/>
          <p:cNvSpPr txBox="1"/>
          <p:nvPr/>
        </p:nvSpPr>
        <p:spPr>
          <a:xfrm>
            <a:off x="745701" y="7450375"/>
            <a:ext cx="11009066" cy="651267"/>
          </a:xfrm>
          <a:prstGeom prst="rect">
            <a:avLst/>
          </a:prstGeom>
        </p:spPr>
        <p:txBody>
          <a:bodyPr lIns="0" tIns="0" rIns="0" bIns="0" rtlCol="0" anchor="t">
            <a:spAutoFit/>
          </a:bodyPr>
          <a:lstStyle/>
          <a:p>
            <a:pPr algn="just">
              <a:lnSpc>
                <a:spcPts val="2591"/>
              </a:lnSpc>
            </a:pPr>
            <a:r>
              <a:rPr lang="en-US" sz="2159" spc="-21">
                <a:solidFill>
                  <a:srgbClr val="FFFFFF"/>
                </a:solidFill>
                <a:latin typeface="Arial Unicode"/>
                <a:ea typeface="Arial Unicode"/>
                <a:cs typeface="Arial Unicode"/>
                <a:sym typeface="Arial Unicode"/>
              </a:rPr>
              <a:t>Clustered bars for these three categories grow over time, highlighting continued vulnerability in both public and private spaces. </a:t>
            </a:r>
          </a:p>
        </p:txBody>
      </p:sp>
      <p:sp>
        <p:nvSpPr>
          <p:cNvPr id="14" name="TextBox 14"/>
          <p:cNvSpPr txBox="1"/>
          <p:nvPr/>
        </p:nvSpPr>
        <p:spPr>
          <a:xfrm>
            <a:off x="6533233" y="2912496"/>
            <a:ext cx="7509322"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YEAR-ON-YEAR (YOY) CHANGE IN CRIMES FLUCTUATES.</a:t>
            </a:r>
          </a:p>
        </p:txBody>
      </p:sp>
      <p:sp>
        <p:nvSpPr>
          <p:cNvPr id="15" name="TextBox 15"/>
          <p:cNvSpPr txBox="1"/>
          <p:nvPr/>
        </p:nvSpPr>
        <p:spPr>
          <a:xfrm>
            <a:off x="6601670" y="3506937"/>
            <a:ext cx="11009066" cy="976901"/>
          </a:xfrm>
          <a:prstGeom prst="rect">
            <a:avLst/>
          </a:prstGeom>
        </p:spPr>
        <p:txBody>
          <a:bodyPr lIns="0" tIns="0" rIns="0" bIns="0" rtlCol="0" anchor="t">
            <a:spAutoFit/>
          </a:bodyPr>
          <a:lstStyle/>
          <a:p>
            <a:pPr algn="just">
              <a:lnSpc>
                <a:spcPts val="2591"/>
              </a:lnSpc>
            </a:pPr>
            <a:r>
              <a:rPr lang="en-US" sz="2159" spc="-21">
                <a:solidFill>
                  <a:srgbClr val="FFFFFF"/>
                </a:solidFill>
                <a:latin typeface="Arial Unicode"/>
                <a:ea typeface="Arial Unicode"/>
                <a:cs typeface="Arial Unicode"/>
                <a:sym typeface="Arial Unicode"/>
              </a:rPr>
              <a:t>The “YoY Change in Total Crimes (%)” line chart shows positive growth in most years with one visible dip, followed by a sharp rise before stabilising again, suggesting that some years experienced spikes or temporary slowdowns rather than smooth growth.</a:t>
            </a:r>
          </a:p>
        </p:txBody>
      </p:sp>
      <p:sp>
        <p:nvSpPr>
          <p:cNvPr id="16" name="TextBox 16"/>
          <p:cNvSpPr txBox="1"/>
          <p:nvPr/>
        </p:nvSpPr>
        <p:spPr>
          <a:xfrm>
            <a:off x="745701" y="5133975"/>
            <a:ext cx="7509322"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CYBER CRIMES AGAINST WOMEN ARE ON AN UPWARD TRAJECTORY. </a:t>
            </a:r>
          </a:p>
        </p:txBody>
      </p:sp>
      <p:sp>
        <p:nvSpPr>
          <p:cNvPr id="17" name="TextBox 17"/>
          <p:cNvSpPr txBox="1"/>
          <p:nvPr/>
        </p:nvSpPr>
        <p:spPr>
          <a:xfrm>
            <a:off x="745701" y="5728416"/>
            <a:ext cx="11009066" cy="651267"/>
          </a:xfrm>
          <a:prstGeom prst="rect">
            <a:avLst/>
          </a:prstGeom>
        </p:spPr>
        <p:txBody>
          <a:bodyPr lIns="0" tIns="0" rIns="0" bIns="0" rtlCol="0" anchor="t">
            <a:spAutoFit/>
          </a:bodyPr>
          <a:lstStyle/>
          <a:p>
            <a:pPr algn="just">
              <a:lnSpc>
                <a:spcPts val="2591"/>
              </a:lnSpc>
            </a:pPr>
            <a:r>
              <a:rPr lang="en-US" sz="2159" spc="-21">
                <a:solidFill>
                  <a:srgbClr val="FFFFFF"/>
                </a:solidFill>
                <a:latin typeface="Arial Unicode"/>
                <a:ea typeface="Arial Unicode"/>
                <a:cs typeface="Arial Unicode"/>
                <a:sym typeface="Arial Unicode"/>
              </a:rPr>
              <a:t>The “Cyber Crimes Trend Over the Years” visual on page 1 shows a clear increasing pattern from 2016 to 2022 within a 0–500 scale. </a:t>
            </a:r>
          </a:p>
        </p:txBody>
      </p:sp>
      <p:sp>
        <p:nvSpPr>
          <p:cNvPr id="18" name="TextBox 18"/>
          <p:cNvSpPr txBox="1"/>
          <p:nvPr/>
        </p:nvSpPr>
        <p:spPr>
          <a:xfrm>
            <a:off x="745701" y="8577892"/>
            <a:ext cx="7509322"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AGE-BASED VULNERABILITY IS EVENLY DISTRIBUTED.</a:t>
            </a:r>
          </a:p>
        </p:txBody>
      </p:sp>
      <p:sp>
        <p:nvSpPr>
          <p:cNvPr id="19" name="TextBox 19"/>
          <p:cNvSpPr txBox="1"/>
          <p:nvPr/>
        </p:nvSpPr>
        <p:spPr>
          <a:xfrm>
            <a:off x="745701" y="9172333"/>
            <a:ext cx="11009066" cy="651267"/>
          </a:xfrm>
          <a:prstGeom prst="rect">
            <a:avLst/>
          </a:prstGeom>
        </p:spPr>
        <p:txBody>
          <a:bodyPr lIns="0" tIns="0" rIns="0" bIns="0" rtlCol="0" anchor="t">
            <a:spAutoFit/>
          </a:bodyPr>
          <a:lstStyle/>
          <a:p>
            <a:pPr algn="just">
              <a:lnSpc>
                <a:spcPts val="2591"/>
              </a:lnSpc>
            </a:pPr>
            <a:r>
              <a:rPr lang="en-US" sz="2159" spc="-21">
                <a:solidFill>
                  <a:srgbClr val="FFFFFF"/>
                </a:solidFill>
                <a:latin typeface="Arial Unicode"/>
                <a:ea typeface="Arial Unicode"/>
                <a:cs typeface="Arial Unicode"/>
                <a:sym typeface="Arial Unicode"/>
              </a:rPr>
              <a:t>The donut chart “Age-Based Vulnerability of Women” shows six equal segments, each representing 6.14K cases (16.67%).</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Freeform 2"/>
          <p:cNvSpPr/>
          <p:nvPr/>
        </p:nvSpPr>
        <p:spPr>
          <a:xfrm>
            <a:off x="3091844" y="4827747"/>
            <a:ext cx="4608725" cy="2538015"/>
          </a:xfrm>
          <a:custGeom>
            <a:avLst/>
            <a:gdLst/>
            <a:ahLst/>
            <a:cxnLst/>
            <a:rect l="l" t="t" r="r" b="b"/>
            <a:pathLst>
              <a:path w="4608725" h="2538015">
                <a:moveTo>
                  <a:pt x="0" y="0"/>
                </a:moveTo>
                <a:lnTo>
                  <a:pt x="4608725" y="0"/>
                </a:lnTo>
                <a:lnTo>
                  <a:pt x="4608725" y="2538014"/>
                </a:lnTo>
                <a:lnTo>
                  <a:pt x="0" y="2538014"/>
                </a:lnTo>
                <a:lnTo>
                  <a:pt x="0" y="0"/>
                </a:lnTo>
                <a:close/>
              </a:path>
            </a:pathLst>
          </a:custGeom>
          <a:blipFill>
            <a:blip r:embed="rId2"/>
            <a:stretch>
              <a:fillRect b="-15055"/>
            </a:stretch>
          </a:blipFill>
        </p:spPr>
      </p:sp>
      <p:sp>
        <p:nvSpPr>
          <p:cNvPr id="3" name="Freeform 3"/>
          <p:cNvSpPr/>
          <p:nvPr/>
        </p:nvSpPr>
        <p:spPr>
          <a:xfrm>
            <a:off x="312592" y="2233529"/>
            <a:ext cx="4857540" cy="2594217"/>
          </a:xfrm>
          <a:custGeom>
            <a:avLst/>
            <a:gdLst/>
            <a:ahLst/>
            <a:cxnLst/>
            <a:rect l="l" t="t" r="r" b="b"/>
            <a:pathLst>
              <a:path w="4857540" h="2594217">
                <a:moveTo>
                  <a:pt x="0" y="0"/>
                </a:moveTo>
                <a:lnTo>
                  <a:pt x="4857539" y="0"/>
                </a:lnTo>
                <a:lnTo>
                  <a:pt x="4857539" y="2594218"/>
                </a:lnTo>
                <a:lnTo>
                  <a:pt x="0" y="2594218"/>
                </a:lnTo>
                <a:lnTo>
                  <a:pt x="0" y="0"/>
                </a:lnTo>
                <a:close/>
              </a:path>
            </a:pathLst>
          </a:custGeom>
          <a:blipFill>
            <a:blip r:embed="rId3"/>
            <a:stretch>
              <a:fillRect/>
            </a:stretch>
          </a:blipFill>
        </p:spPr>
      </p:sp>
      <p:sp>
        <p:nvSpPr>
          <p:cNvPr id="4" name="Freeform 4"/>
          <p:cNvSpPr/>
          <p:nvPr/>
        </p:nvSpPr>
        <p:spPr>
          <a:xfrm>
            <a:off x="7018917" y="7077604"/>
            <a:ext cx="4250166" cy="2411940"/>
          </a:xfrm>
          <a:custGeom>
            <a:avLst/>
            <a:gdLst/>
            <a:ahLst/>
            <a:cxnLst/>
            <a:rect l="l" t="t" r="r" b="b"/>
            <a:pathLst>
              <a:path w="4250166" h="2411940">
                <a:moveTo>
                  <a:pt x="0" y="0"/>
                </a:moveTo>
                <a:lnTo>
                  <a:pt x="4250166" y="0"/>
                </a:lnTo>
                <a:lnTo>
                  <a:pt x="4250166" y="2411940"/>
                </a:lnTo>
                <a:lnTo>
                  <a:pt x="0" y="2411940"/>
                </a:lnTo>
                <a:lnTo>
                  <a:pt x="0" y="0"/>
                </a:lnTo>
                <a:close/>
              </a:path>
            </a:pathLst>
          </a:custGeom>
          <a:blipFill>
            <a:blip r:embed="rId4"/>
            <a:stretch>
              <a:fillRect/>
            </a:stretch>
          </a:blipFill>
        </p:spPr>
      </p:sp>
      <p:sp>
        <p:nvSpPr>
          <p:cNvPr id="5" name="Freeform 5"/>
          <p:cNvSpPr/>
          <p:nvPr/>
        </p:nvSpPr>
        <p:spPr>
          <a:xfrm>
            <a:off x="10313241" y="5478588"/>
            <a:ext cx="7286816" cy="2024195"/>
          </a:xfrm>
          <a:custGeom>
            <a:avLst/>
            <a:gdLst/>
            <a:ahLst/>
            <a:cxnLst/>
            <a:rect l="l" t="t" r="r" b="b"/>
            <a:pathLst>
              <a:path w="7286816" h="2024195">
                <a:moveTo>
                  <a:pt x="0" y="0"/>
                </a:moveTo>
                <a:lnTo>
                  <a:pt x="7286816" y="0"/>
                </a:lnTo>
                <a:lnTo>
                  <a:pt x="7286816" y="2024195"/>
                </a:lnTo>
                <a:lnTo>
                  <a:pt x="0" y="2024195"/>
                </a:lnTo>
                <a:lnTo>
                  <a:pt x="0" y="0"/>
                </a:lnTo>
                <a:close/>
              </a:path>
            </a:pathLst>
          </a:custGeom>
          <a:blipFill>
            <a:blip r:embed="rId5"/>
            <a:stretch>
              <a:fillRect t="-7944" r="-39855" b="-7944"/>
            </a:stretch>
          </a:blipFill>
        </p:spPr>
      </p:sp>
      <p:sp>
        <p:nvSpPr>
          <p:cNvPr id="6" name="Freeform 6"/>
          <p:cNvSpPr/>
          <p:nvPr/>
        </p:nvSpPr>
        <p:spPr>
          <a:xfrm>
            <a:off x="8294842" y="2764110"/>
            <a:ext cx="4932297" cy="2714479"/>
          </a:xfrm>
          <a:custGeom>
            <a:avLst/>
            <a:gdLst/>
            <a:ahLst/>
            <a:cxnLst/>
            <a:rect l="l" t="t" r="r" b="b"/>
            <a:pathLst>
              <a:path w="4932297" h="2714479">
                <a:moveTo>
                  <a:pt x="0" y="0"/>
                </a:moveTo>
                <a:lnTo>
                  <a:pt x="4932296" y="0"/>
                </a:lnTo>
                <a:lnTo>
                  <a:pt x="4932296" y="2714478"/>
                </a:lnTo>
                <a:lnTo>
                  <a:pt x="0" y="2714478"/>
                </a:lnTo>
                <a:lnTo>
                  <a:pt x="0" y="0"/>
                </a:lnTo>
                <a:close/>
              </a:path>
            </a:pathLst>
          </a:custGeom>
          <a:blipFill>
            <a:blip r:embed="rId6"/>
            <a:stretch>
              <a:fillRect l="-2036" t="-781" r="-2613" b="-28659"/>
            </a:stretch>
          </a:blipFill>
        </p:spPr>
      </p:sp>
      <p:sp>
        <p:nvSpPr>
          <p:cNvPr id="7" name="TextBox 7"/>
          <p:cNvSpPr txBox="1"/>
          <p:nvPr/>
        </p:nvSpPr>
        <p:spPr>
          <a:xfrm>
            <a:off x="3862480" y="664304"/>
            <a:ext cx="10563039" cy="1569225"/>
          </a:xfrm>
          <a:prstGeom prst="rect">
            <a:avLst/>
          </a:prstGeom>
        </p:spPr>
        <p:txBody>
          <a:bodyPr lIns="0" tIns="0" rIns="0" bIns="0" rtlCol="0" anchor="t">
            <a:spAutoFit/>
          </a:bodyPr>
          <a:lstStyle/>
          <a:p>
            <a:pPr algn="l">
              <a:lnSpc>
                <a:spcPts val="11219"/>
              </a:lnSpc>
            </a:pPr>
            <a:r>
              <a:rPr lang="en-US" sz="13199" spc="-646">
                <a:solidFill>
                  <a:srgbClr val="FEDEE1"/>
                </a:solidFill>
                <a:latin typeface="Anton"/>
                <a:ea typeface="Anton"/>
                <a:cs typeface="Anton"/>
                <a:sym typeface="Anton"/>
              </a:rPr>
              <a:t>NATIONAL TRENDS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Freeform 2"/>
          <p:cNvSpPr/>
          <p:nvPr/>
        </p:nvSpPr>
        <p:spPr>
          <a:xfrm>
            <a:off x="16533642" y="1028700"/>
            <a:ext cx="725658" cy="725658"/>
          </a:xfrm>
          <a:custGeom>
            <a:avLst/>
            <a:gdLst/>
            <a:ahLst/>
            <a:cxnLst/>
            <a:rect l="l" t="t" r="r" b="b"/>
            <a:pathLst>
              <a:path w="725658" h="725658">
                <a:moveTo>
                  <a:pt x="0" y="0"/>
                </a:moveTo>
                <a:lnTo>
                  <a:pt x="725658" y="0"/>
                </a:lnTo>
                <a:lnTo>
                  <a:pt x="725658" y="725658"/>
                </a:lnTo>
                <a:lnTo>
                  <a:pt x="0" y="725658"/>
                </a:lnTo>
                <a:lnTo>
                  <a:pt x="0" y="0"/>
                </a:lnTo>
                <a:close/>
              </a:path>
            </a:pathLst>
          </a:custGeom>
          <a:blipFill>
            <a:blip r:embed="rId2" cstate="print">
              <a:alphaModFix amt="15000"/>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826476" y="1195018"/>
            <a:ext cx="10378405" cy="4121878"/>
          </a:xfrm>
          <a:prstGeom prst="rect">
            <a:avLst/>
          </a:prstGeom>
        </p:spPr>
        <p:txBody>
          <a:bodyPr lIns="0" tIns="0" rIns="0" bIns="0" rtlCol="0" anchor="t">
            <a:spAutoFit/>
          </a:bodyPr>
          <a:lstStyle/>
          <a:p>
            <a:pPr algn="l">
              <a:lnSpc>
                <a:spcPts val="15485"/>
              </a:lnSpc>
            </a:pPr>
            <a:r>
              <a:rPr lang="en-US" sz="18217" spc="-892">
                <a:solidFill>
                  <a:srgbClr val="FEDEE1"/>
                </a:solidFill>
                <a:latin typeface="Anton"/>
                <a:ea typeface="Anton"/>
                <a:cs typeface="Anton"/>
                <a:sym typeface="Anton"/>
              </a:rPr>
              <a:t>TOP 5  INSIGHTS</a:t>
            </a:r>
          </a:p>
        </p:txBody>
      </p:sp>
      <p:sp>
        <p:nvSpPr>
          <p:cNvPr id="4" name="TextBox 4"/>
          <p:cNvSpPr txBox="1"/>
          <p:nvPr/>
        </p:nvSpPr>
        <p:spPr>
          <a:xfrm>
            <a:off x="8478847" y="894198"/>
            <a:ext cx="5044528"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HIGH-VOLUME AND HIGH-SEVERITY STATES</a:t>
            </a:r>
          </a:p>
        </p:txBody>
      </p:sp>
      <p:sp>
        <p:nvSpPr>
          <p:cNvPr id="5" name="TextBox 5"/>
          <p:cNvSpPr txBox="1"/>
          <p:nvPr/>
        </p:nvSpPr>
        <p:spPr>
          <a:xfrm>
            <a:off x="8413420" y="1406503"/>
            <a:ext cx="8845880" cy="953453"/>
          </a:xfrm>
          <a:prstGeom prst="rect">
            <a:avLst/>
          </a:prstGeom>
        </p:spPr>
        <p:txBody>
          <a:bodyPr lIns="0" tIns="0" rIns="0" bIns="0" rtlCol="0" anchor="t">
            <a:spAutoFit/>
          </a:bodyPr>
          <a:lstStyle/>
          <a:p>
            <a:pPr algn="just">
              <a:lnSpc>
                <a:spcPts val="2528"/>
              </a:lnSpc>
            </a:pPr>
            <a:r>
              <a:rPr lang="en-US" sz="2107" spc="-21">
                <a:solidFill>
                  <a:srgbClr val="FFFFFF"/>
                </a:solidFill>
                <a:latin typeface="Arial Unicode"/>
                <a:ea typeface="Arial Unicode"/>
                <a:cs typeface="Arial Unicode"/>
                <a:sym typeface="Arial Unicode"/>
              </a:rPr>
              <a:t>States such as Uttar Pradesh, Maharashtra, Rajasthan, West Bengal and Madhya Pradesh consistently appear as top contributors to total crimes and crime severity indices </a:t>
            </a:r>
          </a:p>
        </p:txBody>
      </p:sp>
      <p:sp>
        <p:nvSpPr>
          <p:cNvPr id="6" name="TextBox 6"/>
          <p:cNvSpPr txBox="1"/>
          <p:nvPr/>
        </p:nvSpPr>
        <p:spPr>
          <a:xfrm>
            <a:off x="8478847" y="2763232"/>
            <a:ext cx="5044528"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DOMESTIC VIOLENCE AS A CORE DRIVER</a:t>
            </a:r>
          </a:p>
        </p:txBody>
      </p:sp>
      <p:sp>
        <p:nvSpPr>
          <p:cNvPr id="7" name="TextBox 7"/>
          <p:cNvSpPr txBox="1"/>
          <p:nvPr/>
        </p:nvSpPr>
        <p:spPr>
          <a:xfrm>
            <a:off x="8413420" y="3275537"/>
            <a:ext cx="8845880" cy="953453"/>
          </a:xfrm>
          <a:prstGeom prst="rect">
            <a:avLst/>
          </a:prstGeom>
        </p:spPr>
        <p:txBody>
          <a:bodyPr lIns="0" tIns="0" rIns="0" bIns="0" rtlCol="0" anchor="t">
            <a:spAutoFit/>
          </a:bodyPr>
          <a:lstStyle/>
          <a:p>
            <a:pPr algn="just">
              <a:lnSpc>
                <a:spcPts val="2528"/>
              </a:lnSpc>
            </a:pPr>
            <a:r>
              <a:rPr lang="en-US" sz="2107" spc="-21">
                <a:solidFill>
                  <a:srgbClr val="FFFFFF"/>
                </a:solidFill>
                <a:latin typeface="Arial Unicode"/>
                <a:ea typeface="Arial Unicode"/>
                <a:cs typeface="Arial Unicode"/>
                <a:sym typeface="Arial Unicode"/>
              </a:rPr>
              <a:t>Domestic violence constitutes the largest single share of crimes against women, with 835K cases, accounting for around 30.77% of major crimes shown in the distribution pie chart</a:t>
            </a:r>
          </a:p>
        </p:txBody>
      </p:sp>
      <p:sp>
        <p:nvSpPr>
          <p:cNvPr id="8" name="TextBox 8"/>
          <p:cNvSpPr txBox="1"/>
          <p:nvPr/>
        </p:nvSpPr>
        <p:spPr>
          <a:xfrm>
            <a:off x="8544274" y="4486165"/>
            <a:ext cx="8780453"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DOWRY DEATHS AND HUMAN TRAFFICKING REMAIN SIGNIFICANT IN SPECIFIC STATES</a:t>
            </a:r>
          </a:p>
        </p:txBody>
      </p:sp>
      <p:sp>
        <p:nvSpPr>
          <p:cNvPr id="9" name="TextBox 9"/>
          <p:cNvSpPr txBox="1"/>
          <p:nvPr/>
        </p:nvSpPr>
        <p:spPr>
          <a:xfrm>
            <a:off x="8478847" y="4998470"/>
            <a:ext cx="8845880" cy="953453"/>
          </a:xfrm>
          <a:prstGeom prst="rect">
            <a:avLst/>
          </a:prstGeom>
        </p:spPr>
        <p:txBody>
          <a:bodyPr lIns="0" tIns="0" rIns="0" bIns="0" rtlCol="0" anchor="t">
            <a:spAutoFit/>
          </a:bodyPr>
          <a:lstStyle/>
          <a:p>
            <a:pPr algn="just">
              <a:lnSpc>
                <a:spcPts val="2528"/>
              </a:lnSpc>
            </a:pPr>
            <a:r>
              <a:rPr lang="en-US" sz="2107" spc="-21">
                <a:solidFill>
                  <a:srgbClr val="FFFFFF"/>
                </a:solidFill>
                <a:latin typeface="Arial Unicode"/>
                <a:ea typeface="Arial Unicode"/>
                <a:cs typeface="Arial Unicode"/>
                <a:sym typeface="Arial Unicode"/>
              </a:rPr>
              <a:t>Bihar, Jharkhand, Karnataka, Andhra Pradesh and Assam have notable dowry deaths; some states (e.g., Assam, Haryana, Tamil Nadu, Maharashtra) appear prominently in human trafficking distributions </a:t>
            </a:r>
          </a:p>
        </p:txBody>
      </p:sp>
      <p:sp>
        <p:nvSpPr>
          <p:cNvPr id="10" name="TextBox 10"/>
          <p:cNvSpPr txBox="1"/>
          <p:nvPr/>
        </p:nvSpPr>
        <p:spPr>
          <a:xfrm>
            <a:off x="957331" y="6498074"/>
            <a:ext cx="11879029"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CONCENTRATION OF DISTRICT-LEVEL HOTSPOTS</a:t>
            </a:r>
          </a:p>
        </p:txBody>
      </p:sp>
      <p:sp>
        <p:nvSpPr>
          <p:cNvPr id="11" name="TextBox 11"/>
          <p:cNvSpPr txBox="1"/>
          <p:nvPr/>
        </p:nvSpPr>
        <p:spPr>
          <a:xfrm>
            <a:off x="891903" y="7000854"/>
            <a:ext cx="16432824" cy="677308"/>
          </a:xfrm>
          <a:prstGeom prst="rect">
            <a:avLst/>
          </a:prstGeom>
        </p:spPr>
        <p:txBody>
          <a:bodyPr lIns="0" tIns="0" rIns="0" bIns="0" rtlCol="0" anchor="t">
            <a:spAutoFit/>
          </a:bodyPr>
          <a:lstStyle/>
          <a:p>
            <a:pPr algn="just">
              <a:lnSpc>
                <a:spcPts val="2656"/>
              </a:lnSpc>
            </a:pPr>
            <a:r>
              <a:rPr lang="en-US" sz="2213" spc="-22">
                <a:solidFill>
                  <a:srgbClr val="FFFFFF"/>
                </a:solidFill>
                <a:latin typeface="Arial Unicode"/>
                <a:ea typeface="Arial Unicode"/>
                <a:cs typeface="Arial Unicode"/>
                <a:sym typeface="Arial Unicode"/>
              </a:rPr>
              <a:t>Districts like Mumbai, North 24 Paraganas and Hyderabad are highlighted as top districts by total crimes and crime categories (page 3), indicating urban hotspots that require targeted interventions. </a:t>
            </a:r>
          </a:p>
        </p:txBody>
      </p:sp>
      <p:sp>
        <p:nvSpPr>
          <p:cNvPr id="12" name="TextBox 12"/>
          <p:cNvSpPr txBox="1"/>
          <p:nvPr/>
        </p:nvSpPr>
        <p:spPr>
          <a:xfrm>
            <a:off x="891903" y="8078212"/>
            <a:ext cx="11879029" cy="356316"/>
          </a:xfrm>
          <a:prstGeom prst="rect">
            <a:avLst/>
          </a:prstGeom>
        </p:spPr>
        <p:txBody>
          <a:bodyPr lIns="0" tIns="0" rIns="0" bIns="0" rtlCol="0" anchor="t">
            <a:spAutoFit/>
          </a:bodyPr>
          <a:lstStyle/>
          <a:p>
            <a:pPr algn="l">
              <a:lnSpc>
                <a:spcPts val="2818"/>
              </a:lnSpc>
            </a:pPr>
            <a:r>
              <a:rPr lang="en-US" sz="2348" spc="-23">
                <a:solidFill>
                  <a:srgbClr val="FEDEE1"/>
                </a:solidFill>
                <a:latin typeface="Anton"/>
                <a:ea typeface="Anton"/>
                <a:cs typeface="Anton"/>
                <a:sym typeface="Anton"/>
              </a:rPr>
              <a:t>EMERGING CYBER-RELATED RISKS</a:t>
            </a:r>
          </a:p>
        </p:txBody>
      </p:sp>
      <p:sp>
        <p:nvSpPr>
          <p:cNvPr id="13" name="TextBox 13"/>
          <p:cNvSpPr txBox="1"/>
          <p:nvPr/>
        </p:nvSpPr>
        <p:spPr>
          <a:xfrm>
            <a:off x="826476" y="8580992"/>
            <a:ext cx="16432824" cy="677308"/>
          </a:xfrm>
          <a:prstGeom prst="rect">
            <a:avLst/>
          </a:prstGeom>
        </p:spPr>
        <p:txBody>
          <a:bodyPr lIns="0" tIns="0" rIns="0" bIns="0" rtlCol="0" anchor="t">
            <a:spAutoFit/>
          </a:bodyPr>
          <a:lstStyle/>
          <a:p>
            <a:pPr algn="just">
              <a:lnSpc>
                <a:spcPts val="2656"/>
              </a:lnSpc>
            </a:pPr>
            <a:r>
              <a:rPr lang="en-US" sz="2213" spc="-22">
                <a:solidFill>
                  <a:srgbClr val="FFFFFF"/>
                </a:solidFill>
                <a:latin typeface="Arial Unicode"/>
                <a:ea typeface="Arial Unicode"/>
                <a:cs typeface="Arial Unicode"/>
                <a:sym typeface="Arial Unicode"/>
              </a:rPr>
              <a:t>Scatter plots relating cyber crimes to abetment of suicide at both state and district level (pages 2 and 3) hint at a correlation between online harassment/abuse and extreme mental health outcomes.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Freeform 2"/>
          <p:cNvSpPr/>
          <p:nvPr/>
        </p:nvSpPr>
        <p:spPr>
          <a:xfrm>
            <a:off x="563072" y="2135059"/>
            <a:ext cx="5095760" cy="3589710"/>
          </a:xfrm>
          <a:custGeom>
            <a:avLst/>
            <a:gdLst/>
            <a:ahLst/>
            <a:cxnLst/>
            <a:rect l="l" t="t" r="r" b="b"/>
            <a:pathLst>
              <a:path w="5095760" h="3589710">
                <a:moveTo>
                  <a:pt x="0" y="0"/>
                </a:moveTo>
                <a:lnTo>
                  <a:pt x="5095761" y="0"/>
                </a:lnTo>
                <a:lnTo>
                  <a:pt x="5095761" y="3589711"/>
                </a:lnTo>
                <a:lnTo>
                  <a:pt x="0" y="3589711"/>
                </a:lnTo>
                <a:lnTo>
                  <a:pt x="0" y="0"/>
                </a:lnTo>
                <a:close/>
              </a:path>
            </a:pathLst>
          </a:custGeom>
          <a:blipFill>
            <a:blip r:embed="rId2"/>
            <a:stretch>
              <a:fillRect r="-14223"/>
            </a:stretch>
          </a:blipFill>
        </p:spPr>
      </p:sp>
      <p:sp>
        <p:nvSpPr>
          <p:cNvPr id="3" name="Freeform 3"/>
          <p:cNvSpPr/>
          <p:nvPr/>
        </p:nvSpPr>
        <p:spPr>
          <a:xfrm>
            <a:off x="563072" y="5724770"/>
            <a:ext cx="5095760" cy="3814099"/>
          </a:xfrm>
          <a:custGeom>
            <a:avLst/>
            <a:gdLst/>
            <a:ahLst/>
            <a:cxnLst/>
            <a:rect l="l" t="t" r="r" b="b"/>
            <a:pathLst>
              <a:path w="5095760" h="3814099">
                <a:moveTo>
                  <a:pt x="0" y="0"/>
                </a:moveTo>
                <a:lnTo>
                  <a:pt x="5095761" y="0"/>
                </a:lnTo>
                <a:lnTo>
                  <a:pt x="5095761" y="3814099"/>
                </a:lnTo>
                <a:lnTo>
                  <a:pt x="0" y="3814099"/>
                </a:lnTo>
                <a:lnTo>
                  <a:pt x="0" y="0"/>
                </a:lnTo>
                <a:close/>
              </a:path>
            </a:pathLst>
          </a:custGeom>
          <a:blipFill>
            <a:blip r:embed="rId3"/>
            <a:stretch>
              <a:fillRect/>
            </a:stretch>
          </a:blipFill>
        </p:spPr>
      </p:sp>
      <p:sp>
        <p:nvSpPr>
          <p:cNvPr id="4" name="Freeform 4"/>
          <p:cNvSpPr/>
          <p:nvPr/>
        </p:nvSpPr>
        <p:spPr>
          <a:xfrm>
            <a:off x="5952750" y="2164888"/>
            <a:ext cx="5883673" cy="3649367"/>
          </a:xfrm>
          <a:custGeom>
            <a:avLst/>
            <a:gdLst/>
            <a:ahLst/>
            <a:cxnLst/>
            <a:rect l="l" t="t" r="r" b="b"/>
            <a:pathLst>
              <a:path w="5883673" h="3649367">
                <a:moveTo>
                  <a:pt x="0" y="0"/>
                </a:moveTo>
                <a:lnTo>
                  <a:pt x="5883673" y="0"/>
                </a:lnTo>
                <a:lnTo>
                  <a:pt x="5883673" y="3649366"/>
                </a:lnTo>
                <a:lnTo>
                  <a:pt x="0" y="3649366"/>
                </a:lnTo>
                <a:lnTo>
                  <a:pt x="0" y="0"/>
                </a:lnTo>
                <a:close/>
              </a:path>
            </a:pathLst>
          </a:custGeom>
          <a:blipFill>
            <a:blip r:embed="rId4"/>
            <a:stretch>
              <a:fillRect/>
            </a:stretch>
          </a:blipFill>
        </p:spPr>
      </p:sp>
      <p:sp>
        <p:nvSpPr>
          <p:cNvPr id="5" name="Freeform 5"/>
          <p:cNvSpPr/>
          <p:nvPr/>
        </p:nvSpPr>
        <p:spPr>
          <a:xfrm>
            <a:off x="5952750" y="5743417"/>
            <a:ext cx="5883673" cy="3717148"/>
          </a:xfrm>
          <a:custGeom>
            <a:avLst/>
            <a:gdLst/>
            <a:ahLst/>
            <a:cxnLst/>
            <a:rect l="l" t="t" r="r" b="b"/>
            <a:pathLst>
              <a:path w="5883673" h="3717148">
                <a:moveTo>
                  <a:pt x="0" y="0"/>
                </a:moveTo>
                <a:lnTo>
                  <a:pt x="5883673" y="0"/>
                </a:lnTo>
                <a:lnTo>
                  <a:pt x="5883673" y="3717148"/>
                </a:lnTo>
                <a:lnTo>
                  <a:pt x="0" y="3717148"/>
                </a:lnTo>
                <a:lnTo>
                  <a:pt x="0" y="0"/>
                </a:lnTo>
                <a:close/>
              </a:path>
            </a:pathLst>
          </a:custGeom>
          <a:blipFill>
            <a:blip r:embed="rId5"/>
            <a:stretch>
              <a:fillRect t="-17396" b="-17396"/>
            </a:stretch>
          </a:blipFill>
        </p:spPr>
      </p:sp>
      <p:sp>
        <p:nvSpPr>
          <p:cNvPr id="6" name="Freeform 6"/>
          <p:cNvSpPr/>
          <p:nvPr/>
        </p:nvSpPr>
        <p:spPr>
          <a:xfrm>
            <a:off x="12130340" y="5803074"/>
            <a:ext cx="5554139" cy="3657491"/>
          </a:xfrm>
          <a:custGeom>
            <a:avLst/>
            <a:gdLst/>
            <a:ahLst/>
            <a:cxnLst/>
            <a:rect l="l" t="t" r="r" b="b"/>
            <a:pathLst>
              <a:path w="5554139" h="3657491">
                <a:moveTo>
                  <a:pt x="0" y="0"/>
                </a:moveTo>
                <a:lnTo>
                  <a:pt x="5554139" y="0"/>
                </a:lnTo>
                <a:lnTo>
                  <a:pt x="5554139" y="3657491"/>
                </a:lnTo>
                <a:lnTo>
                  <a:pt x="0" y="3657491"/>
                </a:lnTo>
                <a:lnTo>
                  <a:pt x="0" y="0"/>
                </a:lnTo>
                <a:close/>
              </a:path>
            </a:pathLst>
          </a:custGeom>
          <a:blipFill>
            <a:blip r:embed="rId6"/>
            <a:stretch>
              <a:fillRect l="-18328" r="-3496"/>
            </a:stretch>
          </a:blipFill>
        </p:spPr>
      </p:sp>
      <p:sp>
        <p:nvSpPr>
          <p:cNvPr id="7" name="Freeform 7"/>
          <p:cNvSpPr/>
          <p:nvPr/>
        </p:nvSpPr>
        <p:spPr>
          <a:xfrm>
            <a:off x="12187564" y="2194716"/>
            <a:ext cx="5496915" cy="3589710"/>
          </a:xfrm>
          <a:custGeom>
            <a:avLst/>
            <a:gdLst/>
            <a:ahLst/>
            <a:cxnLst/>
            <a:rect l="l" t="t" r="r" b="b"/>
            <a:pathLst>
              <a:path w="5496915" h="3589710">
                <a:moveTo>
                  <a:pt x="0" y="0"/>
                </a:moveTo>
                <a:lnTo>
                  <a:pt x="5496915" y="0"/>
                </a:lnTo>
                <a:lnTo>
                  <a:pt x="5496915" y="3589710"/>
                </a:lnTo>
                <a:lnTo>
                  <a:pt x="0" y="3589710"/>
                </a:lnTo>
                <a:lnTo>
                  <a:pt x="0" y="0"/>
                </a:lnTo>
                <a:close/>
              </a:path>
            </a:pathLst>
          </a:custGeom>
          <a:blipFill>
            <a:blip r:embed="rId7"/>
            <a:stretch>
              <a:fillRect l="-2189" r="-22756"/>
            </a:stretch>
          </a:blipFill>
        </p:spPr>
      </p:sp>
      <p:sp>
        <p:nvSpPr>
          <p:cNvPr id="8" name="TextBox 8"/>
          <p:cNvSpPr txBox="1"/>
          <p:nvPr/>
        </p:nvSpPr>
        <p:spPr>
          <a:xfrm>
            <a:off x="5210214" y="763354"/>
            <a:ext cx="10099760" cy="1371706"/>
          </a:xfrm>
          <a:prstGeom prst="rect">
            <a:avLst/>
          </a:prstGeom>
        </p:spPr>
        <p:txBody>
          <a:bodyPr lIns="0" tIns="0" rIns="0" bIns="0" rtlCol="0" anchor="t">
            <a:spAutoFit/>
          </a:bodyPr>
          <a:lstStyle/>
          <a:p>
            <a:pPr algn="l">
              <a:lnSpc>
                <a:spcPts val="9849"/>
              </a:lnSpc>
            </a:pPr>
            <a:r>
              <a:rPr lang="en-US" sz="11587" spc="-567">
                <a:solidFill>
                  <a:srgbClr val="FEDEE1"/>
                </a:solidFill>
                <a:latin typeface="Anton"/>
                <a:ea typeface="Anton"/>
                <a:cs typeface="Anton"/>
                <a:sym typeface="Anton"/>
              </a:rPr>
              <a:t>TOP 5  INSIGHTS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grpSp>
        <p:nvGrpSpPr>
          <p:cNvPr id="2" name="Group 2"/>
          <p:cNvGrpSpPr/>
          <p:nvPr/>
        </p:nvGrpSpPr>
        <p:grpSpPr>
          <a:xfrm>
            <a:off x="18025110" y="7427069"/>
            <a:ext cx="262890" cy="1831231"/>
            <a:chOff x="0" y="0"/>
            <a:chExt cx="69239" cy="482299"/>
          </a:xfrm>
        </p:grpSpPr>
        <p:sp>
          <p:nvSpPr>
            <p:cNvPr id="3" name="Freeform 3"/>
            <p:cNvSpPr/>
            <p:nvPr/>
          </p:nvSpPr>
          <p:spPr>
            <a:xfrm>
              <a:off x="0" y="0"/>
              <a:ext cx="69239" cy="482299"/>
            </a:xfrm>
            <a:custGeom>
              <a:avLst/>
              <a:gdLst/>
              <a:ahLst/>
              <a:cxnLst/>
              <a:rect l="l" t="t" r="r" b="b"/>
              <a:pathLst>
                <a:path w="69239" h="482299">
                  <a:moveTo>
                    <a:pt x="0" y="0"/>
                  </a:moveTo>
                  <a:lnTo>
                    <a:pt x="69239" y="0"/>
                  </a:lnTo>
                  <a:lnTo>
                    <a:pt x="69239" y="482299"/>
                  </a:lnTo>
                  <a:lnTo>
                    <a:pt x="0" y="482299"/>
                  </a:lnTo>
                  <a:close/>
                </a:path>
              </a:pathLst>
            </a:custGeom>
            <a:solidFill>
              <a:srgbClr val="70020F"/>
            </a:solidFill>
          </p:spPr>
        </p:sp>
        <p:sp>
          <p:nvSpPr>
            <p:cNvPr id="4" name="TextBox 4"/>
            <p:cNvSpPr txBox="1"/>
            <p:nvPr/>
          </p:nvSpPr>
          <p:spPr>
            <a:xfrm>
              <a:off x="0" y="-9525"/>
              <a:ext cx="69239" cy="491824"/>
            </a:xfrm>
            <a:prstGeom prst="rect">
              <a:avLst/>
            </a:prstGeom>
          </p:spPr>
          <p:txBody>
            <a:bodyPr lIns="50800" tIns="50800" rIns="50800" bIns="50800" rtlCol="0" anchor="ctr"/>
            <a:lstStyle/>
            <a:p>
              <a:pPr algn="ctr">
                <a:lnSpc>
                  <a:spcPts val="2818"/>
                </a:lnSpc>
              </a:pPr>
              <a:endParaRPr/>
            </a:p>
          </p:txBody>
        </p:sp>
      </p:grpSp>
      <p:sp>
        <p:nvSpPr>
          <p:cNvPr id="5" name="TextBox 5"/>
          <p:cNvSpPr txBox="1"/>
          <p:nvPr/>
        </p:nvSpPr>
        <p:spPr>
          <a:xfrm>
            <a:off x="891903" y="1069247"/>
            <a:ext cx="16004568" cy="2384426"/>
          </a:xfrm>
          <a:prstGeom prst="rect">
            <a:avLst/>
          </a:prstGeom>
        </p:spPr>
        <p:txBody>
          <a:bodyPr lIns="0" tIns="0" rIns="0" bIns="0" rtlCol="0" anchor="t">
            <a:spAutoFit/>
          </a:bodyPr>
          <a:lstStyle/>
          <a:p>
            <a:pPr algn="l">
              <a:lnSpc>
                <a:spcPts val="17000"/>
              </a:lnSpc>
            </a:pPr>
            <a:r>
              <a:rPr lang="en-US" sz="20000" spc="-980">
                <a:solidFill>
                  <a:srgbClr val="70020F"/>
                </a:solidFill>
                <a:latin typeface="Anton"/>
                <a:ea typeface="Anton"/>
                <a:cs typeface="Anton"/>
                <a:sym typeface="Anton"/>
              </a:rPr>
              <a:t>MAIN VISUAL TYPES</a:t>
            </a:r>
          </a:p>
        </p:txBody>
      </p:sp>
      <p:sp>
        <p:nvSpPr>
          <p:cNvPr id="6" name="TextBox 6"/>
          <p:cNvSpPr txBox="1"/>
          <p:nvPr/>
        </p:nvSpPr>
        <p:spPr>
          <a:xfrm>
            <a:off x="891903" y="3840749"/>
            <a:ext cx="16230600" cy="5417551"/>
          </a:xfrm>
          <a:prstGeom prst="rect">
            <a:avLst/>
          </a:prstGeom>
        </p:spPr>
        <p:txBody>
          <a:bodyPr lIns="0" tIns="0" rIns="0" bIns="0" rtlCol="0" anchor="t">
            <a:spAutoFit/>
          </a:bodyPr>
          <a:lstStyle/>
          <a:p>
            <a:pPr algn="just">
              <a:lnSpc>
                <a:spcPts val="3592"/>
              </a:lnSpc>
            </a:pPr>
            <a:r>
              <a:rPr lang="en-US" sz="2993" spc="-29">
                <a:solidFill>
                  <a:srgbClr val="000000"/>
                </a:solidFill>
                <a:latin typeface="Arial Unicode"/>
                <a:ea typeface="Arial Unicode"/>
                <a:cs typeface="Arial Unicode"/>
                <a:sym typeface="Arial Unicode"/>
              </a:rPr>
              <a:t>• KPI cards (3M Total Crimes, 490K Rapes, 835K Domestic Violence, 417K Kidnapping). </a:t>
            </a:r>
          </a:p>
          <a:p>
            <a:pPr algn="just">
              <a:lnSpc>
                <a:spcPts val="3592"/>
              </a:lnSpc>
            </a:pPr>
            <a:r>
              <a:rPr lang="en-US" sz="2993" spc="-29">
                <a:solidFill>
                  <a:srgbClr val="000000"/>
                </a:solidFill>
                <a:latin typeface="Arial Unicode"/>
                <a:ea typeface="Arial Unicode"/>
                <a:cs typeface="Arial Unicode"/>
                <a:sym typeface="Arial Unicode"/>
              </a:rPr>
              <a:t>• Line and area charts (national trends, YoY change, cyber crimes, state-wise and district-wise rape trends). </a:t>
            </a:r>
          </a:p>
          <a:p>
            <a:pPr algn="just">
              <a:lnSpc>
                <a:spcPts val="3592"/>
              </a:lnSpc>
            </a:pPr>
            <a:r>
              <a:rPr lang="en-US" sz="2993" spc="-29">
                <a:solidFill>
                  <a:srgbClr val="000000"/>
                </a:solidFill>
                <a:latin typeface="Arial Unicode"/>
                <a:ea typeface="Arial Unicode"/>
                <a:cs typeface="Arial Unicode"/>
                <a:sym typeface="Arial Unicode"/>
              </a:rPr>
              <a:t>• Clustered column charts (assaults vs domestic violence vs kidnapping; kidnapping vs assaults by state and district). </a:t>
            </a:r>
          </a:p>
          <a:p>
            <a:pPr algn="just">
              <a:lnSpc>
                <a:spcPts val="3592"/>
              </a:lnSpc>
            </a:pPr>
            <a:r>
              <a:rPr lang="en-US" sz="2993" spc="-29">
                <a:solidFill>
                  <a:srgbClr val="000000"/>
                </a:solidFill>
                <a:latin typeface="Arial Unicode"/>
                <a:ea typeface="Arial Unicode"/>
                <a:cs typeface="Arial Unicode"/>
                <a:sym typeface="Arial Unicode"/>
              </a:rPr>
              <a:t>• Donut / pie charts (distribution of major crimes; age-based vulnerability; human trafficking distributions). </a:t>
            </a:r>
          </a:p>
          <a:p>
            <a:pPr algn="just">
              <a:lnSpc>
                <a:spcPts val="3592"/>
              </a:lnSpc>
            </a:pPr>
            <a:r>
              <a:rPr lang="en-US" sz="2993" spc="-29">
                <a:solidFill>
                  <a:srgbClr val="000000"/>
                </a:solidFill>
                <a:latin typeface="Arial Unicode"/>
                <a:ea typeface="Arial Unicode"/>
                <a:cs typeface="Arial Unicode"/>
                <a:sym typeface="Arial Unicode"/>
              </a:rPr>
              <a:t>• Bar charts (crime severity indices, total crimes, miscarriage-related deaths). </a:t>
            </a:r>
          </a:p>
          <a:p>
            <a:pPr algn="just">
              <a:lnSpc>
                <a:spcPts val="3592"/>
              </a:lnSpc>
            </a:pPr>
            <a:r>
              <a:rPr lang="en-US" sz="2993" spc="-29">
                <a:solidFill>
                  <a:srgbClr val="000000"/>
                </a:solidFill>
                <a:latin typeface="Arial Unicode"/>
                <a:ea typeface="Arial Unicode"/>
                <a:cs typeface="Arial Unicode"/>
                <a:sym typeface="Arial Unicode"/>
              </a:rPr>
              <a:t>• Tree-map (state-wise distribution of domestic violence). </a:t>
            </a:r>
          </a:p>
          <a:p>
            <a:pPr algn="just">
              <a:lnSpc>
                <a:spcPts val="3592"/>
              </a:lnSpc>
            </a:pPr>
            <a:r>
              <a:rPr lang="en-US" sz="2993" spc="-29">
                <a:solidFill>
                  <a:srgbClr val="000000"/>
                </a:solidFill>
                <a:latin typeface="Arial Unicode"/>
                <a:ea typeface="Arial Unicode"/>
                <a:cs typeface="Arial Unicode"/>
                <a:sym typeface="Arial Unicode"/>
              </a:rPr>
              <a:t>• Scatter plots (cyber crimes vs abetment of suicide at state and district level). </a:t>
            </a:r>
          </a:p>
          <a:p>
            <a:pPr algn="just">
              <a:lnSpc>
                <a:spcPts val="3592"/>
              </a:lnSpc>
            </a:pPr>
            <a:r>
              <a:rPr lang="en-US" sz="2993" spc="-29">
                <a:solidFill>
                  <a:srgbClr val="000000"/>
                </a:solidFill>
                <a:latin typeface="Arial Unicode"/>
                <a:ea typeface="Arial Unicode"/>
                <a:cs typeface="Arial Unicode"/>
                <a:sym typeface="Arial Unicode"/>
              </a:rPr>
              <a:t>• Maps (crimes against women across states; acid attacks by state and district). </a:t>
            </a:r>
          </a:p>
          <a:p>
            <a:pPr algn="just">
              <a:lnSpc>
                <a:spcPts val="3592"/>
              </a:lnSpc>
            </a:pPr>
            <a:r>
              <a:rPr lang="en-US" sz="2993" spc="-29">
                <a:solidFill>
                  <a:srgbClr val="000000"/>
                </a:solidFill>
                <a:latin typeface="Arial Unicode"/>
                <a:ea typeface="Arial Unicode"/>
                <a:cs typeface="Arial Unicode"/>
                <a:sym typeface="Arial Unicode"/>
              </a:rPr>
              <a:t>• Tables (state-wise dowry deaths; district-wise domestic violence totals; district ranks).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Freeform 2"/>
          <p:cNvSpPr/>
          <p:nvPr/>
        </p:nvSpPr>
        <p:spPr>
          <a:xfrm>
            <a:off x="8124595" y="120044"/>
            <a:ext cx="4945199" cy="4047034"/>
          </a:xfrm>
          <a:custGeom>
            <a:avLst/>
            <a:gdLst/>
            <a:ahLst/>
            <a:cxnLst/>
            <a:rect l="l" t="t" r="r" b="b"/>
            <a:pathLst>
              <a:path w="4945199" h="4047034">
                <a:moveTo>
                  <a:pt x="0" y="0"/>
                </a:moveTo>
                <a:lnTo>
                  <a:pt x="4945199" y="0"/>
                </a:lnTo>
                <a:lnTo>
                  <a:pt x="4945199" y="4047034"/>
                </a:lnTo>
                <a:lnTo>
                  <a:pt x="0" y="4047034"/>
                </a:lnTo>
                <a:lnTo>
                  <a:pt x="0" y="0"/>
                </a:lnTo>
                <a:close/>
              </a:path>
            </a:pathLst>
          </a:custGeom>
          <a:blipFill>
            <a:blip r:embed="rId2"/>
            <a:stretch>
              <a:fillRect b="-29883"/>
            </a:stretch>
          </a:blipFill>
        </p:spPr>
      </p:sp>
      <p:sp>
        <p:nvSpPr>
          <p:cNvPr id="3" name="Freeform 3"/>
          <p:cNvSpPr/>
          <p:nvPr/>
        </p:nvSpPr>
        <p:spPr>
          <a:xfrm>
            <a:off x="0" y="4107056"/>
            <a:ext cx="4781030" cy="2838262"/>
          </a:xfrm>
          <a:custGeom>
            <a:avLst/>
            <a:gdLst/>
            <a:ahLst/>
            <a:cxnLst/>
            <a:rect l="l" t="t" r="r" b="b"/>
            <a:pathLst>
              <a:path w="4781030" h="2838262">
                <a:moveTo>
                  <a:pt x="0" y="0"/>
                </a:moveTo>
                <a:lnTo>
                  <a:pt x="4781030" y="0"/>
                </a:lnTo>
                <a:lnTo>
                  <a:pt x="4781030" y="2838262"/>
                </a:lnTo>
                <a:lnTo>
                  <a:pt x="0" y="2838262"/>
                </a:lnTo>
                <a:lnTo>
                  <a:pt x="0" y="0"/>
                </a:lnTo>
                <a:close/>
              </a:path>
            </a:pathLst>
          </a:custGeom>
          <a:blipFill>
            <a:blip r:embed="rId3"/>
            <a:stretch>
              <a:fillRect/>
            </a:stretch>
          </a:blipFill>
        </p:spPr>
      </p:sp>
      <p:sp>
        <p:nvSpPr>
          <p:cNvPr id="4" name="Freeform 4"/>
          <p:cNvSpPr/>
          <p:nvPr/>
        </p:nvSpPr>
        <p:spPr>
          <a:xfrm>
            <a:off x="0" y="0"/>
            <a:ext cx="4344691" cy="4167078"/>
          </a:xfrm>
          <a:custGeom>
            <a:avLst/>
            <a:gdLst/>
            <a:ahLst/>
            <a:cxnLst/>
            <a:rect l="l" t="t" r="r" b="b"/>
            <a:pathLst>
              <a:path w="4344691" h="4167078">
                <a:moveTo>
                  <a:pt x="0" y="0"/>
                </a:moveTo>
                <a:lnTo>
                  <a:pt x="4344691" y="0"/>
                </a:lnTo>
                <a:lnTo>
                  <a:pt x="4344691" y="4167078"/>
                </a:lnTo>
                <a:lnTo>
                  <a:pt x="0" y="4167078"/>
                </a:lnTo>
                <a:lnTo>
                  <a:pt x="0" y="0"/>
                </a:lnTo>
                <a:close/>
              </a:path>
            </a:pathLst>
          </a:custGeom>
          <a:blipFill>
            <a:blip r:embed="rId4"/>
            <a:stretch>
              <a:fillRect/>
            </a:stretch>
          </a:blipFill>
        </p:spPr>
      </p:sp>
      <p:sp>
        <p:nvSpPr>
          <p:cNvPr id="5" name="Freeform 5"/>
          <p:cNvSpPr/>
          <p:nvPr/>
        </p:nvSpPr>
        <p:spPr>
          <a:xfrm>
            <a:off x="13069794" y="6810950"/>
            <a:ext cx="5218206" cy="3641600"/>
          </a:xfrm>
          <a:custGeom>
            <a:avLst/>
            <a:gdLst/>
            <a:ahLst/>
            <a:cxnLst/>
            <a:rect l="l" t="t" r="r" b="b"/>
            <a:pathLst>
              <a:path w="5218206" h="3641600">
                <a:moveTo>
                  <a:pt x="0" y="0"/>
                </a:moveTo>
                <a:lnTo>
                  <a:pt x="5218206" y="0"/>
                </a:lnTo>
                <a:lnTo>
                  <a:pt x="5218206" y="3641600"/>
                </a:lnTo>
                <a:lnTo>
                  <a:pt x="0" y="3641600"/>
                </a:lnTo>
                <a:lnTo>
                  <a:pt x="0" y="0"/>
                </a:lnTo>
                <a:close/>
              </a:path>
            </a:pathLst>
          </a:custGeom>
          <a:blipFill>
            <a:blip r:embed="rId5"/>
            <a:stretch>
              <a:fillRect t="-3354" b="-3354"/>
            </a:stretch>
          </a:blipFill>
        </p:spPr>
      </p:sp>
      <p:sp>
        <p:nvSpPr>
          <p:cNvPr id="6" name="Freeform 6"/>
          <p:cNvSpPr/>
          <p:nvPr/>
        </p:nvSpPr>
        <p:spPr>
          <a:xfrm>
            <a:off x="6946759" y="6793164"/>
            <a:ext cx="6114239" cy="3659386"/>
          </a:xfrm>
          <a:custGeom>
            <a:avLst/>
            <a:gdLst/>
            <a:ahLst/>
            <a:cxnLst/>
            <a:rect l="l" t="t" r="r" b="b"/>
            <a:pathLst>
              <a:path w="6114239" h="3659386">
                <a:moveTo>
                  <a:pt x="0" y="0"/>
                </a:moveTo>
                <a:lnTo>
                  <a:pt x="6114239" y="0"/>
                </a:lnTo>
                <a:lnTo>
                  <a:pt x="6114239" y="3659386"/>
                </a:lnTo>
                <a:lnTo>
                  <a:pt x="0" y="3659386"/>
                </a:lnTo>
                <a:lnTo>
                  <a:pt x="0" y="0"/>
                </a:lnTo>
                <a:close/>
              </a:path>
            </a:pathLst>
          </a:custGeom>
          <a:blipFill>
            <a:blip r:embed="rId6"/>
            <a:stretch>
              <a:fillRect r="-1303"/>
            </a:stretch>
          </a:blipFill>
        </p:spPr>
      </p:sp>
      <p:sp>
        <p:nvSpPr>
          <p:cNvPr id="7" name="Freeform 7"/>
          <p:cNvSpPr/>
          <p:nvPr/>
        </p:nvSpPr>
        <p:spPr>
          <a:xfrm>
            <a:off x="4344691" y="60022"/>
            <a:ext cx="3779903" cy="4047034"/>
          </a:xfrm>
          <a:custGeom>
            <a:avLst/>
            <a:gdLst/>
            <a:ahLst/>
            <a:cxnLst/>
            <a:rect l="l" t="t" r="r" b="b"/>
            <a:pathLst>
              <a:path w="3779903" h="4047034">
                <a:moveTo>
                  <a:pt x="0" y="0"/>
                </a:moveTo>
                <a:lnTo>
                  <a:pt x="3779904" y="0"/>
                </a:lnTo>
                <a:lnTo>
                  <a:pt x="3779904" y="4047034"/>
                </a:lnTo>
                <a:lnTo>
                  <a:pt x="0" y="4047034"/>
                </a:lnTo>
                <a:lnTo>
                  <a:pt x="0" y="0"/>
                </a:lnTo>
                <a:close/>
              </a:path>
            </a:pathLst>
          </a:custGeom>
          <a:blipFill>
            <a:blip r:embed="rId7"/>
            <a:stretch>
              <a:fillRect/>
            </a:stretch>
          </a:blipFill>
        </p:spPr>
      </p:sp>
      <p:sp>
        <p:nvSpPr>
          <p:cNvPr id="8" name="Freeform 8"/>
          <p:cNvSpPr/>
          <p:nvPr/>
        </p:nvSpPr>
        <p:spPr>
          <a:xfrm>
            <a:off x="0" y="6775378"/>
            <a:ext cx="6946759" cy="3511622"/>
          </a:xfrm>
          <a:custGeom>
            <a:avLst/>
            <a:gdLst/>
            <a:ahLst/>
            <a:cxnLst/>
            <a:rect l="l" t="t" r="r" b="b"/>
            <a:pathLst>
              <a:path w="6946759" h="3511622">
                <a:moveTo>
                  <a:pt x="0" y="0"/>
                </a:moveTo>
                <a:lnTo>
                  <a:pt x="6946759" y="0"/>
                </a:lnTo>
                <a:lnTo>
                  <a:pt x="6946759" y="3511622"/>
                </a:lnTo>
                <a:lnTo>
                  <a:pt x="0" y="3511622"/>
                </a:lnTo>
                <a:lnTo>
                  <a:pt x="0" y="0"/>
                </a:lnTo>
                <a:close/>
              </a:path>
            </a:pathLst>
          </a:custGeom>
          <a:blipFill>
            <a:blip r:embed="rId8"/>
            <a:stretch>
              <a:fillRect t="-4115" b="-4115"/>
            </a:stretch>
          </a:blipFill>
        </p:spPr>
      </p:sp>
      <p:sp>
        <p:nvSpPr>
          <p:cNvPr id="9" name="Freeform 9"/>
          <p:cNvSpPr/>
          <p:nvPr/>
        </p:nvSpPr>
        <p:spPr>
          <a:xfrm>
            <a:off x="13069794" y="120044"/>
            <a:ext cx="5218206" cy="3987012"/>
          </a:xfrm>
          <a:custGeom>
            <a:avLst/>
            <a:gdLst/>
            <a:ahLst/>
            <a:cxnLst/>
            <a:rect l="l" t="t" r="r" b="b"/>
            <a:pathLst>
              <a:path w="5218206" h="3987012">
                <a:moveTo>
                  <a:pt x="0" y="0"/>
                </a:moveTo>
                <a:lnTo>
                  <a:pt x="5218206" y="0"/>
                </a:lnTo>
                <a:lnTo>
                  <a:pt x="5218206" y="3987012"/>
                </a:lnTo>
                <a:lnTo>
                  <a:pt x="0" y="3987012"/>
                </a:lnTo>
                <a:lnTo>
                  <a:pt x="0" y="0"/>
                </a:lnTo>
                <a:close/>
              </a:path>
            </a:pathLst>
          </a:custGeom>
          <a:blipFill>
            <a:blip r:embed="rId9"/>
            <a:stretch>
              <a:fillRect l="-3249" t="-8047" b="-8047"/>
            </a:stretch>
          </a:blipFill>
        </p:spPr>
      </p:sp>
      <p:sp>
        <p:nvSpPr>
          <p:cNvPr id="10" name="TextBox 10"/>
          <p:cNvSpPr txBox="1"/>
          <p:nvPr/>
        </p:nvSpPr>
        <p:spPr>
          <a:xfrm>
            <a:off x="5206208" y="4809362"/>
            <a:ext cx="12478270" cy="1847607"/>
          </a:xfrm>
          <a:prstGeom prst="rect">
            <a:avLst/>
          </a:prstGeom>
        </p:spPr>
        <p:txBody>
          <a:bodyPr lIns="0" tIns="0" rIns="0" bIns="0" rtlCol="0" anchor="t">
            <a:spAutoFit/>
          </a:bodyPr>
          <a:lstStyle/>
          <a:p>
            <a:pPr algn="l">
              <a:lnSpc>
                <a:spcPts val="13254"/>
              </a:lnSpc>
            </a:pPr>
            <a:r>
              <a:rPr lang="en-US" sz="15593" spc="-764">
                <a:solidFill>
                  <a:srgbClr val="70020F"/>
                </a:solidFill>
                <a:latin typeface="Anton"/>
                <a:ea typeface="Anton"/>
                <a:cs typeface="Anton"/>
                <a:sym typeface="Anton"/>
              </a:rPr>
              <a:t>MAIN VISUAL TYPES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TextBox 2"/>
          <p:cNvSpPr txBox="1"/>
          <p:nvPr/>
        </p:nvSpPr>
        <p:spPr>
          <a:xfrm>
            <a:off x="891903" y="927694"/>
            <a:ext cx="16367397" cy="2263774"/>
          </a:xfrm>
          <a:prstGeom prst="rect">
            <a:avLst/>
          </a:prstGeom>
        </p:spPr>
        <p:txBody>
          <a:bodyPr lIns="0" tIns="0" rIns="0" bIns="0" rtlCol="0" anchor="t">
            <a:spAutoFit/>
          </a:bodyPr>
          <a:lstStyle/>
          <a:p>
            <a:pPr algn="l">
              <a:lnSpc>
                <a:spcPts val="8499"/>
              </a:lnSpc>
            </a:pPr>
            <a:r>
              <a:rPr lang="en-US" sz="9999" spc="-489">
                <a:solidFill>
                  <a:srgbClr val="70020F"/>
                </a:solidFill>
                <a:latin typeface="Anton"/>
                <a:ea typeface="Anton"/>
                <a:cs typeface="Anton"/>
                <a:sym typeface="Anton"/>
              </a:rPr>
              <a:t>PAGE 1: NATIONAL OVERVIEW – “UNHEARD VOICES</a:t>
            </a:r>
          </a:p>
        </p:txBody>
      </p:sp>
      <p:sp>
        <p:nvSpPr>
          <p:cNvPr id="3" name="TextBox 3"/>
          <p:cNvSpPr txBox="1"/>
          <p:nvPr/>
        </p:nvSpPr>
        <p:spPr>
          <a:xfrm>
            <a:off x="891903" y="3840749"/>
            <a:ext cx="16367397" cy="4961503"/>
          </a:xfrm>
          <a:prstGeom prst="rect">
            <a:avLst/>
          </a:prstGeom>
        </p:spPr>
        <p:txBody>
          <a:bodyPr lIns="0" tIns="0" rIns="0" bIns="0" rtlCol="0" anchor="t">
            <a:spAutoFit/>
          </a:bodyPr>
          <a:lstStyle/>
          <a:p>
            <a:pPr algn="just">
              <a:lnSpc>
                <a:spcPts val="4386"/>
              </a:lnSpc>
            </a:pPr>
            <a:r>
              <a:rPr lang="en-US" sz="3655" spc="-36">
                <a:solidFill>
                  <a:srgbClr val="000000"/>
                </a:solidFill>
                <a:latin typeface="Arial Unicode"/>
                <a:ea typeface="Arial Unicode"/>
                <a:cs typeface="Arial Unicode"/>
                <a:sym typeface="Arial Unicode"/>
              </a:rPr>
              <a:t>• India registers 3M crimes against women in the dataset, with domestic violence (835K) and rapes (490K) as major components. </a:t>
            </a:r>
          </a:p>
          <a:p>
            <a:pPr algn="just">
              <a:lnSpc>
                <a:spcPts val="4386"/>
              </a:lnSpc>
            </a:pPr>
            <a:r>
              <a:rPr lang="en-US" sz="3655" spc="-36">
                <a:solidFill>
                  <a:srgbClr val="000000"/>
                </a:solidFill>
                <a:latin typeface="Arial Unicode"/>
                <a:ea typeface="Arial Unicode"/>
                <a:cs typeface="Arial Unicode"/>
                <a:sym typeface="Arial Unicode"/>
              </a:rPr>
              <a:t>• Trends for total crimes, rapes, cyber crimes, assaults and kidnapping all increase over time, showing sustained or worsening risk. </a:t>
            </a:r>
          </a:p>
          <a:p>
            <a:pPr algn="just">
              <a:lnSpc>
                <a:spcPts val="4386"/>
              </a:lnSpc>
            </a:pPr>
            <a:r>
              <a:rPr lang="en-US" sz="3655" spc="-36">
                <a:solidFill>
                  <a:srgbClr val="000000"/>
                </a:solidFill>
                <a:latin typeface="Arial Unicode"/>
                <a:ea typeface="Arial Unicode"/>
                <a:cs typeface="Arial Unicode"/>
                <a:sym typeface="Arial Unicode"/>
              </a:rPr>
              <a:t>• Year-on-year change is mostly positive but volatile, indicating sporadic spikes. </a:t>
            </a:r>
          </a:p>
          <a:p>
            <a:pPr algn="just">
              <a:lnSpc>
                <a:spcPts val="4386"/>
              </a:lnSpc>
            </a:pPr>
            <a:r>
              <a:rPr lang="en-US" sz="3655" spc="-36">
                <a:solidFill>
                  <a:srgbClr val="000000"/>
                </a:solidFill>
                <a:latin typeface="Arial Unicode"/>
                <a:ea typeface="Arial Unicode"/>
                <a:cs typeface="Arial Unicode"/>
                <a:sym typeface="Arial Unicode"/>
              </a:rPr>
              <a:t>• Age-based analysis reveals uniform vulnerability, demanding life-course oriented safety and justice frameworks. </a:t>
            </a:r>
          </a:p>
          <a:p>
            <a:pPr algn="just">
              <a:lnSpc>
                <a:spcPts val="4386"/>
              </a:lnSpc>
            </a:pPr>
            <a:r>
              <a:rPr lang="en-US" sz="3655" spc="-36">
                <a:solidFill>
                  <a:srgbClr val="000000"/>
                </a:solidFill>
                <a:latin typeface="Arial Unicode"/>
                <a:ea typeface="Arial Unicode"/>
                <a:cs typeface="Arial Unicode"/>
                <a:sym typeface="Arial Unicode"/>
              </a:rPr>
              <a:t>• Slicers for state, year and district enable analysts to drill into specific geographies for further investigation.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Freeform 2"/>
          <p:cNvSpPr/>
          <p:nvPr/>
        </p:nvSpPr>
        <p:spPr>
          <a:xfrm>
            <a:off x="197794" y="135060"/>
            <a:ext cx="17892412" cy="10310502"/>
          </a:xfrm>
          <a:custGeom>
            <a:avLst/>
            <a:gdLst/>
            <a:ahLst/>
            <a:cxnLst/>
            <a:rect l="l" t="t" r="r" b="b"/>
            <a:pathLst>
              <a:path w="17892412" h="10310502">
                <a:moveTo>
                  <a:pt x="0" y="0"/>
                </a:moveTo>
                <a:lnTo>
                  <a:pt x="17892412" y="0"/>
                </a:lnTo>
                <a:lnTo>
                  <a:pt x="17892412" y="10310503"/>
                </a:lnTo>
                <a:lnTo>
                  <a:pt x="0" y="10310503"/>
                </a:lnTo>
                <a:lnTo>
                  <a:pt x="0" y="0"/>
                </a:lnTo>
                <a:close/>
              </a:path>
            </a:pathLst>
          </a:custGeom>
          <a:blipFill>
            <a:blip r:embed="rId2"/>
            <a:stretch>
              <a:fillRect/>
            </a:stretch>
          </a:blipFill>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Freeform 2"/>
          <p:cNvSpPr/>
          <p:nvPr/>
        </p:nvSpPr>
        <p:spPr>
          <a:xfrm>
            <a:off x="16533642" y="1028700"/>
            <a:ext cx="725658" cy="725658"/>
          </a:xfrm>
          <a:custGeom>
            <a:avLst/>
            <a:gdLst/>
            <a:ahLst/>
            <a:cxnLst/>
            <a:rect l="l" t="t" r="r" b="b"/>
            <a:pathLst>
              <a:path w="725658" h="725658">
                <a:moveTo>
                  <a:pt x="0" y="0"/>
                </a:moveTo>
                <a:lnTo>
                  <a:pt x="725658" y="0"/>
                </a:lnTo>
                <a:lnTo>
                  <a:pt x="725658" y="725658"/>
                </a:lnTo>
                <a:lnTo>
                  <a:pt x="0" y="725658"/>
                </a:lnTo>
                <a:lnTo>
                  <a:pt x="0" y="0"/>
                </a:lnTo>
                <a:close/>
              </a:path>
            </a:pathLst>
          </a:custGeom>
          <a:blipFill>
            <a:blip r:embed="rId2" cstate="print">
              <a:alphaModFix amt="15000"/>
              <a:extLst>
                <a:ext uri="{96DAC541-7B7A-43D3-8B79-37D633B846F1}">
                  <asvg:svgBlip xmlns:asvg="http://schemas.microsoft.com/office/drawing/2016/SVG/main" xmlns="" r:embed="rId3"/>
                </a:ext>
              </a:extLst>
            </a:blip>
            <a:stretch>
              <a:fillRect/>
            </a:stretch>
          </a:blipFill>
        </p:spPr>
      </p:sp>
      <p:sp>
        <p:nvSpPr>
          <p:cNvPr id="3" name="TextBox 3"/>
          <p:cNvSpPr txBox="1"/>
          <p:nvPr/>
        </p:nvSpPr>
        <p:spPr>
          <a:xfrm>
            <a:off x="891903" y="927694"/>
            <a:ext cx="16367397" cy="1187449"/>
          </a:xfrm>
          <a:prstGeom prst="rect">
            <a:avLst/>
          </a:prstGeom>
        </p:spPr>
        <p:txBody>
          <a:bodyPr lIns="0" tIns="0" rIns="0" bIns="0" rtlCol="0" anchor="t">
            <a:spAutoFit/>
          </a:bodyPr>
          <a:lstStyle/>
          <a:p>
            <a:pPr algn="l">
              <a:lnSpc>
                <a:spcPts val="8499"/>
              </a:lnSpc>
            </a:pPr>
            <a:r>
              <a:rPr lang="en-US" sz="9999" spc="-489">
                <a:solidFill>
                  <a:srgbClr val="70020F"/>
                </a:solidFill>
                <a:latin typeface="Anton"/>
                <a:ea typeface="Anton"/>
                <a:cs typeface="Anton"/>
                <a:sym typeface="Anton"/>
              </a:rPr>
              <a:t>PAGE 2: STATE-LEVEL CRIME LANDSCAPE </a:t>
            </a:r>
          </a:p>
        </p:txBody>
      </p:sp>
      <p:sp>
        <p:nvSpPr>
          <p:cNvPr id="4" name="TextBox 4"/>
          <p:cNvSpPr txBox="1"/>
          <p:nvPr/>
        </p:nvSpPr>
        <p:spPr>
          <a:xfrm>
            <a:off x="960302" y="2642962"/>
            <a:ext cx="16367397" cy="6615338"/>
          </a:xfrm>
          <a:prstGeom prst="rect">
            <a:avLst/>
          </a:prstGeom>
        </p:spPr>
        <p:txBody>
          <a:bodyPr lIns="0" tIns="0" rIns="0" bIns="0" rtlCol="0" anchor="t">
            <a:spAutoFit/>
          </a:bodyPr>
          <a:lstStyle/>
          <a:p>
            <a:pPr algn="just">
              <a:lnSpc>
                <a:spcPts val="4386"/>
              </a:lnSpc>
            </a:pPr>
            <a:r>
              <a:rPr lang="en-US" sz="3655" spc="-36">
                <a:solidFill>
                  <a:srgbClr val="000000"/>
                </a:solidFill>
                <a:latin typeface="Arial Unicode"/>
                <a:ea typeface="Arial Unicode"/>
                <a:cs typeface="Arial Unicode"/>
                <a:sym typeface="Arial Unicode"/>
              </a:rPr>
              <a:t>• Uttar Pradesh, Maharashtra, Rajasthan, West Bengal and Madhya Pradesh consistently appear as high-burden states across total crimes, crime indices and rape distributions. </a:t>
            </a:r>
          </a:p>
          <a:p>
            <a:pPr algn="just">
              <a:lnSpc>
                <a:spcPts val="4386"/>
              </a:lnSpc>
            </a:pPr>
            <a:r>
              <a:rPr lang="en-US" sz="3655" spc="-36">
                <a:solidFill>
                  <a:srgbClr val="000000"/>
                </a:solidFill>
                <a:latin typeface="Arial Unicode"/>
                <a:ea typeface="Arial Unicode"/>
                <a:cs typeface="Arial Unicode"/>
                <a:sym typeface="Arial Unicode"/>
              </a:rPr>
              <a:t>• Domestic violence is heavily concentrated in a group of states led by West Bengal and Uttar Pradesh. </a:t>
            </a:r>
          </a:p>
          <a:p>
            <a:pPr algn="just">
              <a:lnSpc>
                <a:spcPts val="4386"/>
              </a:lnSpc>
            </a:pPr>
            <a:r>
              <a:rPr lang="en-US" sz="3655" spc="-36">
                <a:solidFill>
                  <a:srgbClr val="000000"/>
                </a:solidFill>
                <a:latin typeface="Arial Unicode"/>
                <a:ea typeface="Arial Unicode"/>
                <a:cs typeface="Arial Unicode"/>
                <a:sym typeface="Arial Unicode"/>
              </a:rPr>
              <a:t>• Dowry deaths are particularly acute in Bihar, Jharkhand and Karnataka among others, with 122,110 cases shown for the visible states. </a:t>
            </a:r>
          </a:p>
          <a:p>
            <a:pPr algn="just">
              <a:lnSpc>
                <a:spcPts val="4386"/>
              </a:lnSpc>
            </a:pPr>
            <a:r>
              <a:rPr lang="en-US" sz="3655" spc="-36">
                <a:solidFill>
                  <a:srgbClr val="000000"/>
                </a:solidFill>
                <a:latin typeface="Arial Unicode"/>
                <a:ea typeface="Arial Unicode"/>
                <a:cs typeface="Arial Unicode"/>
                <a:sym typeface="Arial Unicode"/>
              </a:rPr>
              <a:t>• The human trafficking and miscarriage-related deaths visuals highlight additional dimensions of vulnerability beyond headline crime categories. </a:t>
            </a:r>
          </a:p>
          <a:p>
            <a:pPr algn="just">
              <a:lnSpc>
                <a:spcPts val="4386"/>
              </a:lnSpc>
            </a:pPr>
            <a:r>
              <a:rPr lang="en-US" sz="3655" spc="-36">
                <a:solidFill>
                  <a:srgbClr val="000000"/>
                </a:solidFill>
                <a:latin typeface="Arial Unicode"/>
                <a:ea typeface="Arial Unicode"/>
                <a:cs typeface="Arial Unicode"/>
                <a:sym typeface="Arial Unicode"/>
              </a:rPr>
              <a:t>• Cyber crimes show a possible positive association with abetment-of-suicide cases, warranting deeper forensic analysis and mental health-oriented interventions.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Freeform 2"/>
          <p:cNvSpPr/>
          <p:nvPr/>
        </p:nvSpPr>
        <p:spPr>
          <a:xfrm>
            <a:off x="237506" y="0"/>
            <a:ext cx="18050494" cy="10424160"/>
          </a:xfrm>
          <a:custGeom>
            <a:avLst/>
            <a:gdLst/>
            <a:ahLst/>
            <a:cxnLst/>
            <a:rect l="l" t="t" r="r" b="b"/>
            <a:pathLst>
              <a:path w="18050494" h="10424160">
                <a:moveTo>
                  <a:pt x="0" y="0"/>
                </a:moveTo>
                <a:lnTo>
                  <a:pt x="18050494" y="0"/>
                </a:lnTo>
                <a:lnTo>
                  <a:pt x="18050494" y="10424160"/>
                </a:lnTo>
                <a:lnTo>
                  <a:pt x="0" y="10424160"/>
                </a:lnTo>
                <a:lnTo>
                  <a:pt x="0" y="0"/>
                </a:lnTo>
                <a:close/>
              </a:path>
            </a:pathLst>
          </a:custGeom>
          <a:blipFill>
            <a:blip r:embed="rId2"/>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TextBox 2"/>
          <p:cNvSpPr txBox="1"/>
          <p:nvPr/>
        </p:nvSpPr>
        <p:spPr>
          <a:xfrm>
            <a:off x="891903" y="889594"/>
            <a:ext cx="16367397" cy="1076325"/>
          </a:xfrm>
          <a:prstGeom prst="rect">
            <a:avLst/>
          </a:prstGeom>
        </p:spPr>
        <p:txBody>
          <a:bodyPr lIns="0" tIns="0" rIns="0" bIns="0" rtlCol="0" anchor="t">
            <a:spAutoFit/>
          </a:bodyPr>
          <a:lstStyle/>
          <a:p>
            <a:pPr algn="l">
              <a:lnSpc>
                <a:spcPts val="7650"/>
              </a:lnSpc>
            </a:pPr>
            <a:r>
              <a:rPr lang="en-US" sz="9000" spc="-441">
                <a:solidFill>
                  <a:srgbClr val="70020F"/>
                </a:solidFill>
                <a:latin typeface="Anton"/>
                <a:ea typeface="Anton"/>
                <a:cs typeface="Anton"/>
                <a:sym typeface="Anton"/>
              </a:rPr>
              <a:t>PAGE 3: DISTRICT-LEVEL CRIME HOTSPOTS – </a:t>
            </a:r>
          </a:p>
        </p:txBody>
      </p:sp>
      <p:sp>
        <p:nvSpPr>
          <p:cNvPr id="3" name="TextBox 3"/>
          <p:cNvSpPr txBox="1"/>
          <p:nvPr/>
        </p:nvSpPr>
        <p:spPr>
          <a:xfrm>
            <a:off x="960302" y="2800240"/>
            <a:ext cx="16367397" cy="6064060"/>
          </a:xfrm>
          <a:prstGeom prst="rect">
            <a:avLst/>
          </a:prstGeom>
        </p:spPr>
        <p:txBody>
          <a:bodyPr lIns="0" tIns="0" rIns="0" bIns="0" rtlCol="0" anchor="t">
            <a:spAutoFit/>
          </a:bodyPr>
          <a:lstStyle/>
          <a:p>
            <a:pPr algn="just">
              <a:lnSpc>
                <a:spcPts val="4386"/>
              </a:lnSpc>
            </a:pPr>
            <a:r>
              <a:rPr lang="en-US" sz="3655" spc="-36">
                <a:solidFill>
                  <a:srgbClr val="000000"/>
                </a:solidFill>
                <a:latin typeface="Arial Unicode"/>
                <a:ea typeface="Arial Unicode"/>
                <a:cs typeface="Arial Unicode"/>
                <a:sym typeface="Arial Unicode"/>
              </a:rPr>
              <a:t>• Major cities and densely populated districts such as Mumbai, North 24 Paraganas and Hyderabad are leading hotspots in total crimes and multiple categories. </a:t>
            </a:r>
          </a:p>
          <a:p>
            <a:pPr algn="just">
              <a:lnSpc>
                <a:spcPts val="4386"/>
              </a:lnSpc>
            </a:pPr>
            <a:r>
              <a:rPr lang="en-US" sz="3655" spc="-36">
                <a:solidFill>
                  <a:srgbClr val="000000"/>
                </a:solidFill>
                <a:latin typeface="Arial Unicode"/>
                <a:ea typeface="Arial Unicode"/>
                <a:cs typeface="Arial Unicode"/>
                <a:sym typeface="Arial Unicode"/>
              </a:rPr>
              <a:t>• Some districts have disproportionately high kidnapping or assault rates, underscoring the need for district-specific policing strategies. </a:t>
            </a:r>
          </a:p>
          <a:p>
            <a:pPr algn="just">
              <a:lnSpc>
                <a:spcPts val="4386"/>
              </a:lnSpc>
            </a:pPr>
            <a:r>
              <a:rPr lang="en-US" sz="3655" spc="-36">
                <a:solidFill>
                  <a:srgbClr val="000000"/>
                </a:solidFill>
                <a:latin typeface="Arial Unicode"/>
                <a:ea typeface="Arial Unicode"/>
                <a:cs typeface="Arial Unicode"/>
                <a:sym typeface="Arial Unicode"/>
              </a:rPr>
              <a:t>• Human trafficking and miscarriage-related deaths are far from uniform, with a handful of districts showing extreme values. </a:t>
            </a:r>
          </a:p>
          <a:p>
            <a:pPr algn="just">
              <a:lnSpc>
                <a:spcPts val="4386"/>
              </a:lnSpc>
            </a:pPr>
            <a:r>
              <a:rPr lang="en-US" sz="3655" spc="-36">
                <a:solidFill>
                  <a:srgbClr val="000000"/>
                </a:solidFill>
                <a:latin typeface="Arial Unicode"/>
                <a:ea typeface="Arial Unicode"/>
                <a:cs typeface="Arial Unicode"/>
                <a:sym typeface="Arial Unicode"/>
              </a:rPr>
              <a:t>• Cyber crime patterns at district level mirror those at state level, reinforcing concerns about digital violence translating into severe psychological outcomes. </a:t>
            </a:r>
          </a:p>
          <a:p>
            <a:pPr algn="just">
              <a:lnSpc>
                <a:spcPts val="4386"/>
              </a:lnSpc>
            </a:pPr>
            <a:r>
              <a:rPr lang="en-US" sz="3655" spc="-36">
                <a:solidFill>
                  <a:srgbClr val="000000"/>
                </a:solidFill>
                <a:latin typeface="Arial Unicode"/>
                <a:ea typeface="Arial Unicode"/>
                <a:cs typeface="Arial Unicode"/>
                <a:sym typeface="Arial Unicode"/>
              </a:rPr>
              <a:t>• Acid attack maps pinpoint micro-geographies where extremely violent offences occur, enabling ultratargeted interventions.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EDEE1"/>
        </a:solidFill>
        <a:effectLst/>
      </p:bgPr>
    </p:bg>
    <p:spTree>
      <p:nvGrpSpPr>
        <p:cNvPr id="1" name=""/>
        <p:cNvGrpSpPr/>
        <p:nvPr/>
      </p:nvGrpSpPr>
      <p:grpSpPr>
        <a:xfrm>
          <a:off x="0" y="0"/>
          <a:ext cx="0" cy="0"/>
          <a:chOff x="0" y="0"/>
          <a:chExt cx="0" cy="0"/>
        </a:xfrm>
      </p:grpSpPr>
      <p:sp>
        <p:nvSpPr>
          <p:cNvPr id="2" name="Freeform 2"/>
          <p:cNvSpPr/>
          <p:nvPr/>
        </p:nvSpPr>
        <p:spPr>
          <a:xfrm>
            <a:off x="275897" y="0"/>
            <a:ext cx="17736207" cy="10287000"/>
          </a:xfrm>
          <a:custGeom>
            <a:avLst/>
            <a:gdLst/>
            <a:ahLst/>
            <a:cxnLst/>
            <a:rect l="l" t="t" r="r" b="b"/>
            <a:pathLst>
              <a:path w="17736207" h="10287000">
                <a:moveTo>
                  <a:pt x="0" y="0"/>
                </a:moveTo>
                <a:lnTo>
                  <a:pt x="17736206" y="0"/>
                </a:lnTo>
                <a:lnTo>
                  <a:pt x="17736206" y="10287000"/>
                </a:lnTo>
                <a:lnTo>
                  <a:pt x="0" y="10287000"/>
                </a:lnTo>
                <a:lnTo>
                  <a:pt x="0" y="0"/>
                </a:lnTo>
                <a:close/>
              </a:path>
            </a:pathLst>
          </a:custGeom>
          <a:blipFill>
            <a:blip r:embed="rId2"/>
            <a:stretch>
              <a:fillRect/>
            </a:stretch>
          </a:blipFill>
        </p:spPr>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TextBox 2"/>
          <p:cNvSpPr txBox="1"/>
          <p:nvPr/>
        </p:nvSpPr>
        <p:spPr>
          <a:xfrm>
            <a:off x="891903" y="1069247"/>
            <a:ext cx="10153383" cy="2384426"/>
          </a:xfrm>
          <a:prstGeom prst="rect">
            <a:avLst/>
          </a:prstGeom>
        </p:spPr>
        <p:txBody>
          <a:bodyPr lIns="0" tIns="0" rIns="0" bIns="0" rtlCol="0" anchor="t">
            <a:spAutoFit/>
          </a:bodyPr>
          <a:lstStyle/>
          <a:p>
            <a:pPr algn="l">
              <a:lnSpc>
                <a:spcPts val="17000"/>
              </a:lnSpc>
            </a:pPr>
            <a:r>
              <a:rPr lang="en-US" sz="20000" spc="-980">
                <a:solidFill>
                  <a:srgbClr val="FEDEE1"/>
                </a:solidFill>
                <a:latin typeface="Anton"/>
                <a:ea typeface="Anton"/>
                <a:cs typeface="Anton"/>
                <a:sym typeface="Anton"/>
              </a:rPr>
              <a:t>CONCLUSION</a:t>
            </a:r>
          </a:p>
        </p:txBody>
      </p:sp>
      <p:sp>
        <p:nvSpPr>
          <p:cNvPr id="3" name="TextBox 3"/>
          <p:cNvSpPr txBox="1"/>
          <p:nvPr/>
        </p:nvSpPr>
        <p:spPr>
          <a:xfrm>
            <a:off x="6533433" y="4603628"/>
            <a:ext cx="7303540" cy="539872"/>
          </a:xfrm>
          <a:prstGeom prst="rect">
            <a:avLst/>
          </a:prstGeom>
        </p:spPr>
        <p:txBody>
          <a:bodyPr lIns="0" tIns="0" rIns="0" bIns="0" rtlCol="0" anchor="t">
            <a:spAutoFit/>
          </a:bodyPr>
          <a:lstStyle/>
          <a:p>
            <a:pPr algn="l">
              <a:lnSpc>
                <a:spcPts val="4465"/>
              </a:lnSpc>
            </a:pPr>
            <a:r>
              <a:rPr lang="en-US" sz="3721" spc="-37">
                <a:solidFill>
                  <a:srgbClr val="FEDEE1"/>
                </a:solidFill>
                <a:latin typeface="Anton"/>
                <a:ea typeface="Anton"/>
                <a:cs typeface="Anton"/>
                <a:sym typeface="Anton"/>
              </a:rPr>
              <a:t>WHAT NEEDS TO BE DONE ?</a:t>
            </a:r>
          </a:p>
        </p:txBody>
      </p:sp>
      <p:sp>
        <p:nvSpPr>
          <p:cNvPr id="4" name="TextBox 4"/>
          <p:cNvSpPr txBox="1"/>
          <p:nvPr/>
        </p:nvSpPr>
        <p:spPr>
          <a:xfrm>
            <a:off x="4613886" y="5524500"/>
            <a:ext cx="9223087" cy="3355883"/>
          </a:xfrm>
          <a:prstGeom prst="rect">
            <a:avLst/>
          </a:prstGeom>
        </p:spPr>
        <p:txBody>
          <a:bodyPr lIns="0" tIns="0" rIns="0" bIns="0" rtlCol="0" anchor="t">
            <a:spAutoFit/>
          </a:bodyPr>
          <a:lstStyle/>
          <a:p>
            <a:pPr marL="480421" lvl="1" indent="-240211" algn="just">
              <a:lnSpc>
                <a:spcPts val="2670"/>
              </a:lnSpc>
              <a:buFont typeface="Arial"/>
              <a:buChar char="•"/>
            </a:pPr>
            <a:r>
              <a:rPr lang="en-US" sz="2225" spc="-22">
                <a:solidFill>
                  <a:srgbClr val="FFFFFF"/>
                </a:solidFill>
                <a:latin typeface="Arial Unicode"/>
                <a:ea typeface="Arial Unicode"/>
                <a:cs typeface="Arial Unicode"/>
                <a:sym typeface="Arial Unicode"/>
              </a:rPr>
              <a:t>Stronger law enforcement and faster case disposal.</a:t>
            </a:r>
          </a:p>
          <a:p>
            <a:pPr marL="480421" lvl="1" indent="-240211" algn="just">
              <a:lnSpc>
                <a:spcPts val="2670"/>
              </a:lnSpc>
              <a:buFont typeface="Arial"/>
              <a:buChar char="•"/>
            </a:pPr>
            <a:r>
              <a:rPr lang="en-US" sz="2225" spc="-22">
                <a:solidFill>
                  <a:srgbClr val="FFFFFF"/>
                </a:solidFill>
                <a:latin typeface="Arial Unicode"/>
                <a:ea typeface="Arial Unicode"/>
                <a:cs typeface="Arial Unicode"/>
                <a:sym typeface="Arial Unicode"/>
              </a:rPr>
              <a:t>Awareness &amp; education on gender equality at community and school levels.</a:t>
            </a:r>
          </a:p>
          <a:p>
            <a:pPr marL="480421" lvl="1" indent="-240211" algn="just">
              <a:lnSpc>
                <a:spcPts val="2670"/>
              </a:lnSpc>
              <a:buFont typeface="Arial"/>
              <a:buChar char="•"/>
            </a:pPr>
            <a:r>
              <a:rPr lang="en-US" sz="2225" spc="-22">
                <a:solidFill>
                  <a:srgbClr val="FFFFFF"/>
                </a:solidFill>
                <a:latin typeface="Arial Unicode"/>
                <a:ea typeface="Arial Unicode"/>
                <a:cs typeface="Arial Unicode"/>
                <a:sym typeface="Arial Unicode"/>
              </a:rPr>
              <a:t>Better reporting systems and support for survivors (helplines, counseling, shelters).</a:t>
            </a:r>
          </a:p>
          <a:p>
            <a:pPr marL="480421" lvl="1" indent="-240211" algn="just">
              <a:lnSpc>
                <a:spcPts val="2670"/>
              </a:lnSpc>
              <a:buFont typeface="Arial"/>
              <a:buChar char="•"/>
            </a:pPr>
            <a:r>
              <a:rPr lang="en-US" sz="2225" spc="-22">
                <a:solidFill>
                  <a:srgbClr val="FFFFFF"/>
                </a:solidFill>
                <a:latin typeface="Arial Unicode"/>
                <a:ea typeface="Arial Unicode"/>
                <a:cs typeface="Arial Unicode"/>
                <a:sym typeface="Arial Unicode"/>
              </a:rPr>
              <a:t>Digital safety measures to control rising cybercrimes.</a:t>
            </a:r>
          </a:p>
          <a:p>
            <a:pPr marL="480421" lvl="1" indent="-240211" algn="just">
              <a:lnSpc>
                <a:spcPts val="2670"/>
              </a:lnSpc>
              <a:buFont typeface="Arial"/>
              <a:buChar char="•"/>
            </a:pPr>
            <a:r>
              <a:rPr lang="en-US" sz="2225" spc="-22">
                <a:solidFill>
                  <a:srgbClr val="FFFFFF"/>
                </a:solidFill>
                <a:latin typeface="Arial Unicode"/>
                <a:ea typeface="Arial Unicode"/>
                <a:cs typeface="Arial Unicode"/>
                <a:sym typeface="Arial Unicode"/>
              </a:rPr>
              <a:t>State-level targeted policies for high-burden regions.</a:t>
            </a:r>
          </a:p>
          <a:p>
            <a:pPr marL="480421" lvl="1" indent="-240211" algn="just">
              <a:lnSpc>
                <a:spcPts val="2670"/>
              </a:lnSpc>
              <a:buFont typeface="Arial"/>
              <a:buChar char="•"/>
            </a:pPr>
            <a:r>
              <a:rPr lang="en-US" sz="2225" spc="-22">
                <a:solidFill>
                  <a:srgbClr val="FFFFFF"/>
                </a:solidFill>
                <a:latin typeface="Arial Unicode"/>
                <a:ea typeface="Arial Unicode"/>
                <a:cs typeface="Arial Unicode"/>
                <a:sym typeface="Arial Unicode"/>
              </a:rPr>
              <a:t>Regular monitoring &amp; data-driven interventions using dashboards like this.</a:t>
            </a:r>
          </a:p>
          <a:p>
            <a:pPr algn="just">
              <a:lnSpc>
                <a:spcPts val="2670"/>
              </a:lnSpc>
            </a:pPr>
            <a:endParaRPr/>
          </a:p>
        </p:txBody>
      </p:sp>
      <p:sp>
        <p:nvSpPr>
          <p:cNvPr id="5" name="Freeform 5"/>
          <p:cNvSpPr/>
          <p:nvPr/>
        </p:nvSpPr>
        <p:spPr>
          <a:xfrm>
            <a:off x="16533642" y="1028700"/>
            <a:ext cx="725658" cy="725658"/>
          </a:xfrm>
          <a:custGeom>
            <a:avLst/>
            <a:gdLst/>
            <a:ahLst/>
            <a:cxnLst/>
            <a:rect l="l" t="t" r="r" b="b"/>
            <a:pathLst>
              <a:path w="725658" h="725658">
                <a:moveTo>
                  <a:pt x="0" y="0"/>
                </a:moveTo>
                <a:lnTo>
                  <a:pt x="725658" y="0"/>
                </a:lnTo>
                <a:lnTo>
                  <a:pt x="725658" y="725658"/>
                </a:lnTo>
                <a:lnTo>
                  <a:pt x="0" y="725658"/>
                </a:lnTo>
                <a:lnTo>
                  <a:pt x="0" y="0"/>
                </a:lnTo>
                <a:close/>
              </a:path>
            </a:pathLst>
          </a:custGeom>
          <a:blipFill>
            <a:blip r:embed="rId2" cstate="print">
              <a:alphaModFix amt="15000"/>
              <a:extLst>
                <a:ext uri="{96DAC541-7B7A-43D3-8B79-37D633B846F1}">
                  <asvg:svgBlip xmlns:asvg="http://schemas.microsoft.com/office/drawing/2016/SVG/main" xmlns="" r:embed="rId3"/>
                </a:ext>
              </a:extLst>
            </a:blip>
            <a:stretch>
              <a:fillRect/>
            </a:stretch>
          </a:blipFill>
        </p:spPr>
      </p:sp>
      <p:sp>
        <p:nvSpPr>
          <p:cNvPr id="6" name="TextBox 6"/>
          <p:cNvSpPr txBox="1"/>
          <p:nvPr/>
        </p:nvSpPr>
        <p:spPr>
          <a:xfrm>
            <a:off x="1028700" y="3236118"/>
            <a:ext cx="16230600" cy="670002"/>
          </a:xfrm>
          <a:prstGeom prst="rect">
            <a:avLst/>
          </a:prstGeom>
        </p:spPr>
        <p:txBody>
          <a:bodyPr lIns="0" tIns="0" rIns="0" bIns="0" rtlCol="0" anchor="t">
            <a:spAutoFit/>
          </a:bodyPr>
          <a:lstStyle/>
          <a:p>
            <a:pPr algn="just">
              <a:lnSpc>
                <a:spcPts val="2665"/>
              </a:lnSpc>
            </a:pPr>
            <a:r>
              <a:rPr lang="en-US" sz="2221" spc="-22">
                <a:solidFill>
                  <a:srgbClr val="FFFFFF"/>
                </a:solidFill>
                <a:latin typeface="Arial Unicode"/>
                <a:ea typeface="Arial Unicode"/>
                <a:cs typeface="Arial Unicode"/>
                <a:sym typeface="Arial Unicode"/>
              </a:rPr>
              <a:t>Crimes against women in India remain high and are rising every year, showing that women’s safety is still a major concern. Violence is widespread across states, age groups, and even digital spaces, highlighting deep-rooted social and systemic issues.</a:t>
            </a:r>
          </a:p>
        </p:txBody>
      </p:sp>
      <p:sp>
        <p:nvSpPr>
          <p:cNvPr id="7" name="AutoShape 7"/>
          <p:cNvSpPr/>
          <p:nvPr/>
        </p:nvSpPr>
        <p:spPr>
          <a:xfrm flipV="1">
            <a:off x="1028700" y="4294885"/>
            <a:ext cx="16230600" cy="0"/>
          </a:xfrm>
          <a:prstGeom prst="line">
            <a:avLst/>
          </a:prstGeom>
          <a:ln w="9525" cap="rnd">
            <a:solidFill>
              <a:srgbClr val="FFFFFF"/>
            </a:solidFill>
            <a:prstDash val="solid"/>
            <a:headEnd type="none" w="sm" len="sm"/>
            <a:tailEnd type="none" w="sm" len="sm"/>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70020F"/>
        </a:solidFill>
        <a:effectLst/>
      </p:bgPr>
    </p:bg>
    <p:spTree>
      <p:nvGrpSpPr>
        <p:cNvPr id="1" name=""/>
        <p:cNvGrpSpPr/>
        <p:nvPr/>
      </p:nvGrpSpPr>
      <p:grpSpPr>
        <a:xfrm>
          <a:off x="0" y="0"/>
          <a:ext cx="0" cy="0"/>
          <a:chOff x="0" y="0"/>
          <a:chExt cx="0" cy="0"/>
        </a:xfrm>
      </p:grpSpPr>
      <p:sp>
        <p:nvSpPr>
          <p:cNvPr id="2" name="TextBox 2"/>
          <p:cNvSpPr txBox="1"/>
          <p:nvPr/>
        </p:nvSpPr>
        <p:spPr>
          <a:xfrm>
            <a:off x="1028700" y="3721032"/>
            <a:ext cx="16230600" cy="1187449"/>
          </a:xfrm>
          <a:prstGeom prst="rect">
            <a:avLst/>
          </a:prstGeom>
        </p:spPr>
        <p:txBody>
          <a:bodyPr lIns="0" tIns="0" rIns="0" bIns="0" rtlCol="0" anchor="t">
            <a:spAutoFit/>
          </a:bodyPr>
          <a:lstStyle/>
          <a:p>
            <a:pPr algn="ctr">
              <a:lnSpc>
                <a:spcPts val="8499"/>
              </a:lnSpc>
            </a:pPr>
            <a:r>
              <a:rPr lang="en-US" sz="9999" spc="-489">
                <a:solidFill>
                  <a:srgbClr val="FEDEE1"/>
                </a:solidFill>
                <a:latin typeface="Anton"/>
                <a:ea typeface="Anton"/>
                <a:cs typeface="Anton"/>
                <a:sym typeface="Anton"/>
              </a:rPr>
              <a:t>"यत्र नार्यस्तु पूज्यन्ते रमन्ते तत्र देवताः।"</a:t>
            </a:r>
          </a:p>
        </p:txBody>
      </p:sp>
      <p:sp>
        <p:nvSpPr>
          <p:cNvPr id="3" name="TextBox 3"/>
          <p:cNvSpPr txBox="1"/>
          <p:nvPr/>
        </p:nvSpPr>
        <p:spPr>
          <a:xfrm>
            <a:off x="3502926" y="5879176"/>
            <a:ext cx="11282148" cy="405943"/>
          </a:xfrm>
          <a:prstGeom prst="rect">
            <a:avLst/>
          </a:prstGeom>
        </p:spPr>
        <p:txBody>
          <a:bodyPr lIns="0" tIns="0" rIns="0" bIns="0" rtlCol="0" anchor="t">
            <a:spAutoFit/>
          </a:bodyPr>
          <a:lstStyle/>
          <a:p>
            <a:pPr algn="l">
              <a:lnSpc>
                <a:spcPts val="3007"/>
              </a:lnSpc>
            </a:pPr>
            <a:r>
              <a:rPr lang="en-US" sz="2919" spc="116">
                <a:solidFill>
                  <a:srgbClr val="FFFFFF"/>
                </a:solidFill>
                <a:latin typeface="Arial Unicode"/>
                <a:ea typeface="Arial Unicode"/>
                <a:cs typeface="Arial Unicode"/>
                <a:sym typeface="Arial Unicode"/>
              </a:rPr>
              <a:t>WHERE WOMEN ARE RESPECTED, THE DIVINE RESIDES.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1147</Words>
  <Application>Microsoft Office PowerPoint</Application>
  <PresentationFormat>Custom</PresentationFormat>
  <Paragraphs>81</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Anton</vt:lpstr>
      <vt:lpstr>Arial Unicode Bold</vt:lpstr>
      <vt:lpstr>Arial Unicode</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Unheard Voices</dc:title>
  <cp:lastModifiedBy>Shagun Talwar</cp:lastModifiedBy>
  <cp:revision>2</cp:revision>
  <dcterms:created xsi:type="dcterms:W3CDTF">2006-08-16T00:00:00Z</dcterms:created>
  <dcterms:modified xsi:type="dcterms:W3CDTF">2025-12-28T08:31:28Z</dcterms:modified>
  <dc:identifier>DAG6MXbS5tg</dc:identifier>
</cp:coreProperties>
</file>